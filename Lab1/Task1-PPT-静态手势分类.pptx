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1"/>
    <p:sldMasterId id="2147483891" r:id="rId2"/>
  </p:sldMasterIdLst>
  <p:notesMasterIdLst>
    <p:notesMasterId r:id="rId39"/>
  </p:notesMasterIdLst>
  <p:sldIdLst>
    <p:sldId id="453" r:id="rId3"/>
    <p:sldId id="399" r:id="rId4"/>
    <p:sldId id="431" r:id="rId5"/>
    <p:sldId id="406" r:id="rId6"/>
    <p:sldId id="405" r:id="rId7"/>
    <p:sldId id="408" r:id="rId8"/>
    <p:sldId id="407" r:id="rId9"/>
    <p:sldId id="412" r:id="rId10"/>
    <p:sldId id="410" r:id="rId11"/>
    <p:sldId id="430" r:id="rId12"/>
    <p:sldId id="424" r:id="rId13"/>
    <p:sldId id="411" r:id="rId14"/>
    <p:sldId id="415" r:id="rId15"/>
    <p:sldId id="416" r:id="rId16"/>
    <p:sldId id="437" r:id="rId17"/>
    <p:sldId id="436" r:id="rId18"/>
    <p:sldId id="443" r:id="rId19"/>
    <p:sldId id="444" r:id="rId20"/>
    <p:sldId id="434" r:id="rId21"/>
    <p:sldId id="435" r:id="rId22"/>
    <p:sldId id="432" r:id="rId23"/>
    <p:sldId id="445" r:id="rId24"/>
    <p:sldId id="433" r:id="rId25"/>
    <p:sldId id="441" r:id="rId26"/>
    <p:sldId id="446" r:id="rId27"/>
    <p:sldId id="440" r:id="rId28"/>
    <p:sldId id="438" r:id="rId29"/>
    <p:sldId id="447" r:id="rId30"/>
    <p:sldId id="448" r:id="rId31"/>
    <p:sldId id="449" r:id="rId32"/>
    <p:sldId id="450" r:id="rId33"/>
    <p:sldId id="419" r:id="rId34"/>
    <p:sldId id="451" r:id="rId35"/>
    <p:sldId id="452" r:id="rId36"/>
    <p:sldId id="442" r:id="rId37"/>
    <p:sldId id="42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3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EDEDED"/>
    <a:srgbClr val="00467F"/>
    <a:srgbClr val="5199DB"/>
    <a:srgbClr val="27648A"/>
    <a:srgbClr val="CAD9ED"/>
    <a:srgbClr val="159D3F"/>
    <a:srgbClr val="00B24A"/>
    <a:srgbClr val="DBBDBE"/>
    <a:srgbClr val="4E9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353"/>
  </p:normalViewPr>
  <p:slideViewPr>
    <p:cSldViewPr snapToGrid="0">
      <p:cViewPr varScale="1">
        <p:scale>
          <a:sx n="111" d="100"/>
          <a:sy n="111" d="100"/>
        </p:scale>
        <p:origin x="1152" y="192"/>
      </p:cViewPr>
      <p:guideLst>
        <p:guide orient="horz" pos="3952"/>
        <p:guide pos="7355"/>
        <p:guide pos="3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264E4-53A3-4F7C-8B3E-6A67B43EB240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EE39E-CA4C-4F96-A80C-DC7C4173A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33291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00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69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22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568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 https://www.kaggle.com/datasets/datamunge/sign-language-mnist。官方 train=27455，test=7172；验证比例0.1。图片级分层划分，不是按手语者分组。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401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中心化后黑色</a:t>
            </a:r>
            <a:r>
              <a:rPr dirty="0"/>
              <a:t>=-0.5，白色=0.5。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73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993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918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59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947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275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375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527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268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065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sign_mnist_loader.py，第57–72行。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6518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sign_mnist_loader.py，第77–98行。仅从原始训练集划出验证集；官方 test 不参与梯度训练和选轮。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4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network.py __init__。初始化已提供，不属于填空。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746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network.py 第25–39行。注意 logits 按每行减去最大值以提高稳定性。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959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network.py backward 前半段，约第90–107行。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841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来源：学生版 network.py backward 后半段，约第108–125行。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来源：学生版</a:t>
            </a:r>
            <a:r>
              <a:rPr dirty="0"/>
              <a:t> </a:t>
            </a:r>
            <a:r>
              <a:rPr dirty="0" err="1"/>
              <a:t>network.py</a:t>
            </a:r>
            <a:r>
              <a:rPr dirty="0"/>
              <a:t> 第127–134行。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869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来源：学生版 main.py，第164–187行。这里已经给出完整训练循环，学生不用补写。截图中的固定平移验证默认关闭。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0760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来源：学生版 augmentation.py 的 shift_batch。附加题保留完整任务说明，暂未填写的基础运行不调用它。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来源：学生版</a:t>
            </a:r>
            <a:r>
              <a:rPr dirty="0"/>
              <a:t> </a:t>
            </a:r>
            <a:r>
              <a:rPr dirty="0" err="1"/>
              <a:t>augmentation.py</a:t>
            </a:r>
            <a:r>
              <a:rPr dirty="0"/>
              <a:t> </a:t>
            </a:r>
            <a:r>
              <a:rPr dirty="0" err="1"/>
              <a:t>的</a:t>
            </a:r>
            <a:r>
              <a:rPr dirty="0"/>
              <a:t> augment_batch。A2调用A1；每张图共享一个亮度和对比度参数，不是逐像素噪声。右下示意由真实训练图片生成固定变换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1799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EE39E-CA4C-4F96-A80C-DC7C4173A55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8013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/>
        </p:blipFill>
        <p:spPr>
          <a:xfrm>
            <a:off x="8940250" y="87003"/>
            <a:ext cx="3096419" cy="905185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 bwMode="auto">
          <a:xfrm>
            <a:off x="228600" y="828675"/>
            <a:ext cx="859155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5871-7503-42B4-B270-553B24DADE8A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5B6FF96-A938-49B8-B295-396BB17957DD}" type="slidenum">
              <a:rPr lang="zh-CN" altLang="en-US" smtClean="0"/>
              <a:pPr/>
              <a:t>‹#›</a:t>
            </a:fld>
            <a:r>
              <a:rPr lang="en-US" altLang="zh-CN" dirty="0"/>
              <a:t>/22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340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/>
        </p:blipFill>
        <p:spPr>
          <a:xfrm>
            <a:off x="8940250" y="87003"/>
            <a:ext cx="3096419" cy="90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01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9B9E2B-A60C-42A8-A276-ECFEF1FD3415}" type="datetime1">
              <a:rPr kumimoji="0" lang="zh-CN" altLang="en-US" sz="113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2026/10/22</a:t>
            </a:fld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1C3CEF-B625-4558-9E75-934060632C1B}" type="slidenum">
              <a:rPr kumimoji="0" lang="zh-CN" altLang="en-US" sz="113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91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hone 6 floa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31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08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fld id="{9EDA708B-D96E-4A09-ADC1-5F0D99551DF4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fld id="{F5B6FF96-A938-49B8-B295-396BB17957DD}" type="slidenum">
              <a:rPr lang="zh-CN" altLang="en-US" smtClean="0"/>
              <a:pPr/>
              <a:t>‹#›</a:t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/21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4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90" r:id="rId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5701A1-C0C0-48F3-96A6-4C845C99009A}" type="datetime1">
              <a:rPr kumimoji="0" lang="zh-CN" altLang="en-US" sz="113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2026/10/22</a:t>
            </a:fld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2A982-3A61-4A3F-9BF9-00E23E2A1567}" type="slidenum">
              <a:rPr kumimoji="0" lang="zh-CN" altLang="en-US" sz="1138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38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82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</p:sldLayoutIdLst>
  <p:hf hdr="0" ftr="0" dt="0"/>
  <p:txStyles>
    <p:titleStyle>
      <a:lvl1pPr algn="l" defTabSz="866943" rtl="0" eaLnBrk="1" latinLnBrk="0" hangingPunct="1">
        <a:lnSpc>
          <a:spcPct val="90000"/>
        </a:lnSpc>
        <a:spcBef>
          <a:spcPct val="0"/>
        </a:spcBef>
        <a:buNone/>
        <a:defRPr sz="41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736" indent="-216736" algn="l" defTabSz="866943" rtl="0" eaLnBrk="1" latinLnBrk="0" hangingPunct="1">
        <a:lnSpc>
          <a:spcPct val="90000"/>
        </a:lnSpc>
        <a:spcBef>
          <a:spcPts val="94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07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678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3pPr>
      <a:lvl4pPr marL="1517150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950621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384092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817564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251035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684506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1pPr>
      <a:lvl2pPr marL="433471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66943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3pPr>
      <a:lvl4pPr marL="1300414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733885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167357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600828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034299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467771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0.png"/><Relationship Id="rId10" Type="http://schemas.openxmlformats.org/officeDocument/2006/relationships/image" Target="../media/image7.png"/><Relationship Id="rId4" Type="http://schemas.openxmlformats.org/officeDocument/2006/relationships/image" Target="../media/image4.wmf"/><Relationship Id="rId14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110.png"/><Relationship Id="rId18" Type="http://schemas.openxmlformats.org/officeDocument/2006/relationships/image" Target="../media/image15.pn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oleObject" Target="../embeddings/oleObject6.bin"/><Relationship Id="rId5" Type="http://schemas.openxmlformats.org/officeDocument/2006/relationships/image" Target="../media/image70.png"/><Relationship Id="rId15" Type="http://schemas.openxmlformats.org/officeDocument/2006/relationships/image" Target="../media/image41.png"/><Relationship Id="rId10" Type="http://schemas.openxmlformats.org/officeDocument/2006/relationships/image" Target="../media/image5.w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20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9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机器学习综合训练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26077" y="2971800"/>
            <a:ext cx="8503920" cy="9144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en-US" sz="4000" b="1" dirty="0" err="1">
                <a:solidFill>
                  <a:srgbClr val="07517D"/>
                </a:solidFill>
                <a:latin typeface="Calibri"/>
                <a:ea typeface="微软雅黑"/>
              </a:rPr>
              <a:t>实验一</a:t>
            </a:r>
            <a:r>
              <a:rPr lang="zh-CN" altLang="en-US" sz="4000" b="1" dirty="0">
                <a:solidFill>
                  <a:srgbClr val="07517D"/>
                </a:solidFill>
                <a:latin typeface="Calibri"/>
                <a:ea typeface="微软雅黑"/>
              </a:rPr>
              <a:t>：静态手势分类</a:t>
            </a:r>
            <a:endParaRPr sz="4000" b="1" dirty="0">
              <a:solidFill>
                <a:srgbClr val="07517D"/>
              </a:solidFill>
              <a:latin typeface="Calibri"/>
              <a:ea typeface="微软雅黑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EE2D-A17F-9E3D-A02B-8454D9D19A43}"/>
              </a:ext>
            </a:extLst>
          </p:cNvPr>
          <p:cNvSpPr txBox="1"/>
          <p:nvPr/>
        </p:nvSpPr>
        <p:spPr>
          <a:xfrm>
            <a:off x="4247147" y="4367464"/>
            <a:ext cx="5450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庞善民</a:t>
            </a:r>
            <a:r>
              <a:rPr lang="zh-CN" altLang="en-US" sz="2400" dirty="0"/>
              <a:t> 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 pangsm</a:t>
            </a:r>
            <a:r>
              <a:rPr lang="en-US" altLang="zh-CN" sz="2400" dirty="0">
                <a:ea typeface="Microsoft Yahei" panose="020B0503020204020204" pitchFamily="34" charset="-122"/>
              </a:rPr>
              <a:t>@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xjtu</a:t>
            </a:r>
            <a:r>
              <a:rPr lang="en-US" altLang="zh-CN" sz="2400" i="0" strike="noStrike" dirty="0">
                <a:effectLst/>
                <a:ea typeface="Microsoft Yahei" panose="020B0503020204020204" pitchFamily="34" charset="-122"/>
              </a:rPr>
              <a:t>.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edu</a:t>
            </a:r>
            <a:r>
              <a:rPr lang="en-US" sz="2400" dirty="0">
                <a:ea typeface="Microsoft Yahei" panose="020B0503020204020204" pitchFamily="34" charset="-122"/>
              </a:rPr>
              <a:t>.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cn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145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问题描述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1207008"/>
            <a:ext cx="10927080" cy="150876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151515"/>
                </a:solidFill>
                <a:latin typeface="Calibri"/>
                <a:ea typeface="微软雅黑"/>
              </a:rPr>
              <a:t>根据全连接神经网络和反向传播原理，使用 NumPy 手写实现静态手势分类。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151515"/>
                </a:solidFill>
                <a:latin typeface="Calibri"/>
                <a:ea typeface="微软雅黑"/>
              </a:rPr>
              <a:t>输入为 28×28 灰度图片，输出为 24 个静态手语字母类别。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151515"/>
                </a:solidFill>
                <a:latin typeface="Calibri"/>
                <a:ea typeface="微软雅黑"/>
              </a:rPr>
              <a:t>基础网络：784 → 64 → 24；完成 7 处必做填空，并进行实验分析。</a:t>
            </a:r>
          </a:p>
        </p:txBody>
      </p:sp>
      <p:pic>
        <p:nvPicPr>
          <p:cNvPr id="27" name="Picture 26" descr="dataset_examples.png"/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2212848" y="2816352"/>
            <a:ext cx="7735823" cy="2578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5760720"/>
            <a:ext cx="10972800" cy="640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 dirty="0" err="1">
                <a:solidFill>
                  <a:srgbClr val="D62728"/>
                </a:solidFill>
                <a:latin typeface="Calibri"/>
                <a:ea typeface="微软雅黑"/>
              </a:rPr>
              <a:t>损失：交叉熵；隐藏层默认</a:t>
            </a:r>
            <a:r>
              <a:rPr sz="2100" b="1" dirty="0">
                <a:solidFill>
                  <a:srgbClr val="D62728"/>
                </a:solidFill>
                <a:latin typeface="Calibri"/>
                <a:ea typeface="微软雅黑"/>
              </a:rPr>
              <a:t> </a:t>
            </a:r>
            <a:r>
              <a:rPr sz="2100" b="1" dirty="0" err="1">
                <a:solidFill>
                  <a:srgbClr val="D62728"/>
                </a:solidFill>
                <a:latin typeface="Calibri"/>
                <a:ea typeface="微软雅黑"/>
              </a:rPr>
              <a:t>ReLU，可对比</a:t>
            </a:r>
            <a:r>
              <a:rPr sz="2100" b="1" dirty="0">
                <a:solidFill>
                  <a:srgbClr val="D62728"/>
                </a:solidFill>
                <a:latin typeface="Calibri"/>
                <a:ea typeface="微软雅黑"/>
              </a:rPr>
              <a:t> Sigmoid。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 dirty="0" err="1">
                <a:solidFill>
                  <a:srgbClr val="D62728"/>
                </a:solidFill>
                <a:latin typeface="Calibri"/>
                <a:ea typeface="微软雅黑"/>
              </a:rPr>
              <a:t>附加题：随机平移，以及随机亮度与对比度</a:t>
            </a:r>
            <a:r>
              <a:rPr sz="2100" b="1" dirty="0">
                <a:solidFill>
                  <a:srgbClr val="D62728"/>
                </a:solidFill>
                <a:latin typeface="Calibri"/>
                <a:ea typeface="微软雅黑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1/35</a:t>
            </a:r>
          </a:p>
        </p:txBody>
      </p:sp>
    </p:spTree>
    <p:extLst>
      <p:ext uri="{BB962C8B-B14F-4D97-AF65-F5344CB8AC3E}">
        <p14:creationId xmlns:p14="http://schemas.microsoft.com/office/powerpoint/2010/main" val="268501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331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5939" y="1078656"/>
            <a:ext cx="218199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</a:pPr>
            <a:r>
              <a:rPr lang="zh-CN" altLang="en-US" sz="2600" b="1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神经网络</a:t>
            </a:r>
          </a:p>
        </p:txBody>
      </p:sp>
      <p:sp>
        <p:nvSpPr>
          <p:cNvPr id="833" name="矩形 832"/>
          <p:cNvSpPr/>
          <p:nvPr/>
        </p:nvSpPr>
        <p:spPr>
          <a:xfrm>
            <a:off x="4553725" y="1386925"/>
            <a:ext cx="779185" cy="272345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34" name="矩形 833"/>
          <p:cNvSpPr/>
          <p:nvPr/>
        </p:nvSpPr>
        <p:spPr>
          <a:xfrm>
            <a:off x="5879311" y="1386925"/>
            <a:ext cx="762395" cy="270710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35" name="矩形 834"/>
          <p:cNvSpPr/>
          <p:nvPr/>
        </p:nvSpPr>
        <p:spPr>
          <a:xfrm>
            <a:off x="7290870" y="1386925"/>
            <a:ext cx="737989" cy="272345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36" name="矩形 835"/>
          <p:cNvSpPr/>
          <p:nvPr/>
        </p:nvSpPr>
        <p:spPr>
          <a:xfrm>
            <a:off x="3370624" y="1462148"/>
            <a:ext cx="498951" cy="262505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cxnSp>
        <p:nvCxnSpPr>
          <p:cNvPr id="837" name="直線單箭頭接點 92"/>
          <p:cNvCxnSpPr/>
          <p:nvPr/>
        </p:nvCxnSpPr>
        <p:spPr>
          <a:xfrm>
            <a:off x="7677679" y="2482927"/>
            <a:ext cx="101859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8" name="直線單箭頭接點 93"/>
          <p:cNvCxnSpPr/>
          <p:nvPr/>
        </p:nvCxnSpPr>
        <p:spPr>
          <a:xfrm>
            <a:off x="7786994" y="3728817"/>
            <a:ext cx="905748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9" name="直線單箭頭接點 94"/>
          <p:cNvCxnSpPr/>
          <p:nvPr/>
        </p:nvCxnSpPr>
        <p:spPr>
          <a:xfrm>
            <a:off x="7653794" y="1704124"/>
            <a:ext cx="1050372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0" name="矩形 839"/>
          <p:cNvSpPr/>
          <p:nvPr/>
        </p:nvSpPr>
        <p:spPr>
          <a:xfrm>
            <a:off x="3439011" y="2179841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41" name="矩形 840"/>
          <p:cNvSpPr/>
          <p:nvPr/>
        </p:nvSpPr>
        <p:spPr>
          <a:xfrm>
            <a:off x="3444829" y="1609512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aphicFrame>
        <p:nvGraphicFramePr>
          <p:cNvPr id="84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03739"/>
              </p:ext>
            </p:extLst>
          </p:nvPr>
        </p:nvGraphicFramePr>
        <p:xfrm>
          <a:off x="3457528" y="1514262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84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28" y="1514262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54787"/>
              </p:ext>
            </p:extLst>
          </p:nvPr>
        </p:nvGraphicFramePr>
        <p:xfrm>
          <a:off x="3462825" y="2096992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8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825" y="2096992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4" name="橢圓 99"/>
          <p:cNvSpPr/>
          <p:nvPr/>
        </p:nvSpPr>
        <p:spPr>
          <a:xfrm>
            <a:off x="4650836" y="1445509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45" name="橢圓 100"/>
          <p:cNvSpPr/>
          <p:nvPr/>
        </p:nvSpPr>
        <p:spPr>
          <a:xfrm>
            <a:off x="4653178" y="2224079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46" name="橢圓 101"/>
          <p:cNvSpPr/>
          <p:nvPr/>
        </p:nvSpPr>
        <p:spPr>
          <a:xfrm>
            <a:off x="4641545" y="3452091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47" name="文字方塊 102"/>
          <p:cNvSpPr txBox="1"/>
          <p:nvPr/>
        </p:nvSpPr>
        <p:spPr>
          <a:xfrm rot="5400000">
            <a:off x="4638799" y="28743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8" name="矩形 847"/>
          <p:cNvSpPr/>
          <p:nvPr/>
        </p:nvSpPr>
        <p:spPr>
          <a:xfrm>
            <a:off x="3448536" y="3577598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aphicFrame>
        <p:nvGraphicFramePr>
          <p:cNvPr id="8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629555"/>
              </p:ext>
            </p:extLst>
          </p:nvPr>
        </p:nvGraphicFramePr>
        <p:xfrm>
          <a:off x="3445420" y="3481344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440" imgH="228600" progId="Equation.3">
                  <p:embed/>
                </p:oleObj>
              </mc:Choice>
              <mc:Fallback>
                <p:oleObj name="方程式" r:id="rId7" imgW="190440" imgH="228600" progId="Equation.3">
                  <p:embed/>
                  <p:pic>
                    <p:nvPicPr>
                      <p:cNvPr id="8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420" y="3481344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" name="文字方塊 105"/>
          <p:cNvSpPr txBox="1"/>
          <p:nvPr/>
        </p:nvSpPr>
        <p:spPr>
          <a:xfrm rot="5400000">
            <a:off x="3324469" y="28625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1" name="橢圓 106"/>
          <p:cNvSpPr/>
          <p:nvPr/>
        </p:nvSpPr>
        <p:spPr>
          <a:xfrm>
            <a:off x="5966398" y="1445509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2" name="橢圓 107"/>
          <p:cNvSpPr/>
          <p:nvPr/>
        </p:nvSpPr>
        <p:spPr>
          <a:xfrm>
            <a:off x="5968740" y="2224079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3" name="橢圓 108"/>
          <p:cNvSpPr/>
          <p:nvPr/>
        </p:nvSpPr>
        <p:spPr>
          <a:xfrm>
            <a:off x="5957107" y="3452091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4" name="文字方塊 109"/>
          <p:cNvSpPr txBox="1"/>
          <p:nvPr/>
        </p:nvSpPr>
        <p:spPr>
          <a:xfrm rot="5400000">
            <a:off x="5954361" y="28743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5" name="橢圓 110"/>
          <p:cNvSpPr/>
          <p:nvPr/>
        </p:nvSpPr>
        <p:spPr>
          <a:xfrm>
            <a:off x="7366715" y="1426401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6" name="橢圓 111"/>
          <p:cNvSpPr/>
          <p:nvPr/>
        </p:nvSpPr>
        <p:spPr>
          <a:xfrm>
            <a:off x="7369057" y="2186310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7" name="橢圓 112"/>
          <p:cNvSpPr/>
          <p:nvPr/>
        </p:nvSpPr>
        <p:spPr>
          <a:xfrm>
            <a:off x="7376085" y="3432983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58" name="文字方塊 113"/>
          <p:cNvSpPr txBox="1"/>
          <p:nvPr/>
        </p:nvSpPr>
        <p:spPr>
          <a:xfrm rot="5400000">
            <a:off x="7373339" y="285211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9" name="文字方塊 114"/>
          <p:cNvSpPr txBox="1"/>
          <p:nvPr/>
        </p:nvSpPr>
        <p:spPr>
          <a:xfrm>
            <a:off x="6538444" y="138692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0" name="文字方塊 115"/>
          <p:cNvSpPr txBox="1"/>
          <p:nvPr/>
        </p:nvSpPr>
        <p:spPr>
          <a:xfrm>
            <a:off x="6556067" y="217242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1" name="文字方塊 116"/>
          <p:cNvSpPr txBox="1"/>
          <p:nvPr/>
        </p:nvSpPr>
        <p:spPr>
          <a:xfrm>
            <a:off x="6568247" y="342871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862" name="直線單箭頭接點 117"/>
          <p:cNvCxnSpPr>
            <a:stCxn id="844" idx="6"/>
            <a:endCxn id="851" idx="2"/>
          </p:cNvCxnSpPr>
          <p:nvPr/>
        </p:nvCxnSpPr>
        <p:spPr>
          <a:xfrm>
            <a:off x="5224994" y="1732588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3" name="直線單箭頭接點 118"/>
          <p:cNvCxnSpPr/>
          <p:nvPr/>
        </p:nvCxnSpPr>
        <p:spPr>
          <a:xfrm>
            <a:off x="5224994" y="2524340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4" name="直線單箭頭接點 119"/>
          <p:cNvCxnSpPr/>
          <p:nvPr/>
        </p:nvCxnSpPr>
        <p:spPr>
          <a:xfrm>
            <a:off x="5215703" y="3746309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5" name="直線單箭頭接點 120"/>
          <p:cNvCxnSpPr>
            <a:stCxn id="845" idx="6"/>
            <a:endCxn id="851" idx="2"/>
          </p:cNvCxnSpPr>
          <p:nvPr/>
        </p:nvCxnSpPr>
        <p:spPr>
          <a:xfrm flipV="1">
            <a:off x="5227336" y="1732588"/>
            <a:ext cx="739062" cy="77857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6" name="直線單箭頭接點 121"/>
          <p:cNvCxnSpPr>
            <a:stCxn id="844" idx="6"/>
            <a:endCxn id="852" idx="2"/>
          </p:cNvCxnSpPr>
          <p:nvPr/>
        </p:nvCxnSpPr>
        <p:spPr>
          <a:xfrm>
            <a:off x="5224994" y="1732588"/>
            <a:ext cx="743746" cy="77857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7" name="直線單箭頭接點 122"/>
          <p:cNvCxnSpPr>
            <a:stCxn id="844" idx="6"/>
            <a:endCxn id="853" idx="2"/>
          </p:cNvCxnSpPr>
          <p:nvPr/>
        </p:nvCxnSpPr>
        <p:spPr>
          <a:xfrm>
            <a:off x="5224995" y="1732588"/>
            <a:ext cx="732113" cy="200658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8" name="直線單箭頭接點 123"/>
          <p:cNvCxnSpPr>
            <a:stCxn id="845" idx="6"/>
            <a:endCxn id="853" idx="2"/>
          </p:cNvCxnSpPr>
          <p:nvPr/>
        </p:nvCxnSpPr>
        <p:spPr>
          <a:xfrm>
            <a:off x="5227337" y="2511158"/>
            <a:ext cx="729771" cy="122801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9" name="直線單箭頭接點 124"/>
          <p:cNvCxnSpPr>
            <a:stCxn id="846" idx="6"/>
            <a:endCxn id="851" idx="2"/>
          </p:cNvCxnSpPr>
          <p:nvPr/>
        </p:nvCxnSpPr>
        <p:spPr>
          <a:xfrm flipV="1">
            <a:off x="5215704" y="1732588"/>
            <a:ext cx="750695" cy="200658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0" name="直線單箭頭接點 125"/>
          <p:cNvCxnSpPr>
            <a:stCxn id="846" idx="6"/>
            <a:endCxn id="852" idx="2"/>
          </p:cNvCxnSpPr>
          <p:nvPr/>
        </p:nvCxnSpPr>
        <p:spPr>
          <a:xfrm flipV="1">
            <a:off x="5215704" y="2511158"/>
            <a:ext cx="753037" cy="122801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1" name="直線單箭頭接點 126"/>
          <p:cNvCxnSpPr>
            <a:endCxn id="844" idx="2"/>
          </p:cNvCxnSpPr>
          <p:nvPr/>
        </p:nvCxnSpPr>
        <p:spPr>
          <a:xfrm flipV="1">
            <a:off x="3791436" y="1732589"/>
            <a:ext cx="859400" cy="2999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2" name="直線單箭頭接點 127"/>
          <p:cNvCxnSpPr>
            <a:stCxn id="841" idx="3"/>
            <a:endCxn id="845" idx="2"/>
          </p:cNvCxnSpPr>
          <p:nvPr/>
        </p:nvCxnSpPr>
        <p:spPr>
          <a:xfrm>
            <a:off x="3787730" y="1780962"/>
            <a:ext cx="865449" cy="73019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3" name="直線單箭頭接點 128"/>
          <p:cNvCxnSpPr>
            <a:stCxn id="841" idx="3"/>
            <a:endCxn id="846" idx="2"/>
          </p:cNvCxnSpPr>
          <p:nvPr/>
        </p:nvCxnSpPr>
        <p:spPr>
          <a:xfrm>
            <a:off x="3787729" y="1780962"/>
            <a:ext cx="853816" cy="195820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4" name="直線單箭頭接點 129"/>
          <p:cNvCxnSpPr>
            <a:stCxn id="843" idx="3"/>
            <a:endCxn id="844" idx="2"/>
          </p:cNvCxnSpPr>
          <p:nvPr/>
        </p:nvCxnSpPr>
        <p:spPr>
          <a:xfrm flipV="1">
            <a:off x="3815250" y="1732588"/>
            <a:ext cx="835587" cy="59538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5" name="直線單箭頭接點 130"/>
          <p:cNvCxnSpPr>
            <a:stCxn id="840" idx="3"/>
            <a:endCxn id="845" idx="2"/>
          </p:cNvCxnSpPr>
          <p:nvPr/>
        </p:nvCxnSpPr>
        <p:spPr>
          <a:xfrm>
            <a:off x="3781912" y="2351292"/>
            <a:ext cx="871267" cy="15986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6" name="直線單箭頭接點 131"/>
          <p:cNvCxnSpPr>
            <a:stCxn id="840" idx="3"/>
            <a:endCxn id="846" idx="2"/>
          </p:cNvCxnSpPr>
          <p:nvPr/>
        </p:nvCxnSpPr>
        <p:spPr>
          <a:xfrm>
            <a:off x="3781911" y="2351292"/>
            <a:ext cx="859634" cy="138787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7" name="直線單箭頭接點 132"/>
          <p:cNvCxnSpPr>
            <a:stCxn id="849" idx="3"/>
            <a:endCxn id="844" idx="2"/>
          </p:cNvCxnSpPr>
          <p:nvPr/>
        </p:nvCxnSpPr>
        <p:spPr>
          <a:xfrm flipV="1">
            <a:off x="3853408" y="1732589"/>
            <a:ext cx="797428" cy="199323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8" name="直線單箭頭接點 133"/>
          <p:cNvCxnSpPr>
            <a:stCxn id="849" idx="3"/>
            <a:endCxn id="845" idx="2"/>
          </p:cNvCxnSpPr>
          <p:nvPr/>
        </p:nvCxnSpPr>
        <p:spPr>
          <a:xfrm flipV="1">
            <a:off x="3827040" y="2511158"/>
            <a:ext cx="826139" cy="12146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9" name="直線單箭頭接點 134"/>
          <p:cNvCxnSpPr>
            <a:stCxn id="849" idx="3"/>
            <a:endCxn id="846" idx="2"/>
          </p:cNvCxnSpPr>
          <p:nvPr/>
        </p:nvCxnSpPr>
        <p:spPr>
          <a:xfrm>
            <a:off x="3827039" y="3725764"/>
            <a:ext cx="814506" cy="134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84" name="矩形 883"/>
          <p:cNvSpPr/>
          <p:nvPr/>
        </p:nvSpPr>
        <p:spPr>
          <a:xfrm>
            <a:off x="3842545" y="2013777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85" name="矩形 884"/>
          <p:cNvSpPr/>
          <p:nvPr/>
        </p:nvSpPr>
        <p:spPr>
          <a:xfrm>
            <a:off x="5230748" y="2021981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86" name="矩形 885"/>
          <p:cNvSpPr/>
          <p:nvPr/>
        </p:nvSpPr>
        <p:spPr>
          <a:xfrm>
            <a:off x="6696753" y="2015082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887" name="矩形 886"/>
          <p:cNvSpPr/>
          <p:nvPr/>
        </p:nvSpPr>
        <p:spPr>
          <a:xfrm>
            <a:off x="3754674" y="3409022"/>
            <a:ext cx="441359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x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8" name="矩形 887"/>
              <p:cNvSpPr/>
              <p:nvPr/>
            </p:nvSpPr>
            <p:spPr>
              <a:xfrm>
                <a:off x="7988826" y="3417705"/>
                <a:ext cx="441359" cy="877076"/>
              </a:xfrm>
              <a:prstGeom prst="rect">
                <a:avLst/>
              </a:prstGeom>
              <a:gradFill rotWithShape="1">
                <a:gsLst>
                  <a:gs pos="0">
                    <a:srgbClr val="4472C4">
                      <a:lumMod val="110000"/>
                      <a:satMod val="105000"/>
                      <a:tint val="67000"/>
                    </a:srgbClr>
                  </a:gs>
                  <a:gs pos="50000">
                    <a:srgbClr val="4472C4">
                      <a:lumMod val="105000"/>
                      <a:satMod val="103000"/>
                      <a:tint val="73000"/>
                    </a:srgbClr>
                  </a:gs>
                  <a:gs pos="100000">
                    <a:srgbClr val="4472C4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zh-TW" sz="24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TW" altLang="en-US" sz="2400" kern="0" baseline="300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kumimoji="0" lang="zh-TW" altLang="en-US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888" name="矩形 8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826" y="3417705"/>
                <a:ext cx="441359" cy="877076"/>
              </a:xfrm>
              <a:prstGeom prst="rect">
                <a:avLst/>
              </a:prstGeom>
              <a:blipFill>
                <a:blip r:embed="rId10"/>
                <a:stretch>
                  <a:fillRect l="-5479" r="-5479"/>
                </a:stretch>
              </a:blip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9" name="群組 3"/>
          <p:cNvGrpSpPr/>
          <p:nvPr/>
        </p:nvGrpSpPr>
        <p:grpSpPr>
          <a:xfrm>
            <a:off x="1686374" y="4648844"/>
            <a:ext cx="3002489" cy="877076"/>
            <a:chOff x="522337" y="4911258"/>
            <a:chExt cx="3002489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4" name="文字方塊 144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TW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kumimoji="0" lang="zh-TW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894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0" name="矩形 88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b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1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1" name="矩形 890"/>
            <p:cNvSpPr/>
            <p:nvPr/>
          </p:nvSpPr>
          <p:spPr>
            <a:xfrm>
              <a:off x="952147" y="4935213"/>
              <a:ext cx="872320" cy="832399"/>
            </a:xfrm>
            <a:prstGeom prst="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(W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1</a:t>
              </a:r>
              <a:r>
                <a:rPr kumimoji="0" lang="en-US" altLang="zh-TW" sz="24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)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T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2" name="矩形 89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x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3" name="文字方塊 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95" name="群組 158"/>
          <p:cNvGrpSpPr/>
          <p:nvPr/>
        </p:nvGrpSpPr>
        <p:grpSpPr>
          <a:xfrm>
            <a:off x="4688863" y="5020186"/>
            <a:ext cx="3002489" cy="877076"/>
            <a:chOff x="522337" y="4911258"/>
            <a:chExt cx="3002489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0" name="文字方塊 163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TW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kumimoji="0" lang="zh-TW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00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6" name="矩形 895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b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2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7" name="矩形 896"/>
            <p:cNvSpPr/>
            <p:nvPr/>
          </p:nvSpPr>
          <p:spPr>
            <a:xfrm>
              <a:off x="979538" y="4935213"/>
              <a:ext cx="862155" cy="832399"/>
            </a:xfrm>
            <a:prstGeom prst="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(W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2</a:t>
              </a:r>
              <a:r>
                <a:rPr kumimoji="0" lang="en-US" altLang="zh-TW" sz="24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)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T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8" name="矩形 897"/>
            <p:cNvSpPr/>
            <p:nvPr/>
          </p:nvSpPr>
          <p:spPr>
            <a:xfrm>
              <a:off x="1883749" y="4911258"/>
              <a:ext cx="463736" cy="877076"/>
            </a:xfrm>
            <a:prstGeom prst="rect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h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1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99" name="文字方塊 16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01" name="手繪多邊形 105"/>
          <p:cNvSpPr/>
          <p:nvPr/>
        </p:nvSpPr>
        <p:spPr>
          <a:xfrm>
            <a:off x="4676164" y="356926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2" name="手繪多邊形 105"/>
          <p:cNvSpPr/>
          <p:nvPr/>
        </p:nvSpPr>
        <p:spPr>
          <a:xfrm>
            <a:off x="6017533" y="156122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3" name="手繪多邊形 105"/>
          <p:cNvSpPr/>
          <p:nvPr/>
        </p:nvSpPr>
        <p:spPr>
          <a:xfrm>
            <a:off x="6008220" y="236130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4" name="手繪多邊形 105"/>
          <p:cNvSpPr/>
          <p:nvPr/>
        </p:nvSpPr>
        <p:spPr>
          <a:xfrm>
            <a:off x="6016397" y="35893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5" name="手繪多邊形 105"/>
          <p:cNvSpPr/>
          <p:nvPr/>
        </p:nvSpPr>
        <p:spPr>
          <a:xfrm>
            <a:off x="7418844" y="1551459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6" name="手繪多邊形 105"/>
          <p:cNvSpPr/>
          <p:nvPr/>
        </p:nvSpPr>
        <p:spPr>
          <a:xfrm>
            <a:off x="7456401" y="232158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07" name="手繪多邊形 105"/>
          <p:cNvSpPr/>
          <p:nvPr/>
        </p:nvSpPr>
        <p:spPr>
          <a:xfrm>
            <a:off x="7428214" y="35430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pSp>
        <p:nvGrpSpPr>
          <p:cNvPr id="908" name="群組 164"/>
          <p:cNvGrpSpPr/>
          <p:nvPr/>
        </p:nvGrpSpPr>
        <p:grpSpPr>
          <a:xfrm>
            <a:off x="7527379" y="5612532"/>
            <a:ext cx="2867836" cy="877076"/>
            <a:chOff x="522337" y="4911258"/>
            <a:chExt cx="2867836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3" name="文字方塊 169"/>
                <p:cNvSpPr txBox="1"/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TW" alt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kumimoji="0" lang="zh-TW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13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0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9" name="矩形 908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b</a:t>
              </a:r>
              <a:r>
                <a:rPr kumimoji="0" lang="en-US" altLang="zh-TW" sz="2400" b="0" i="0" u="none" strike="noStrike" kern="0" cap="none" spc="0" normalizeH="0" baseline="30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L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910" name="矩形 909"/>
            <p:cNvSpPr/>
            <p:nvPr/>
          </p:nvSpPr>
          <p:spPr>
            <a:xfrm>
              <a:off x="980718" y="4935213"/>
              <a:ext cx="837273" cy="832399"/>
            </a:xfrm>
            <a:prstGeom prst="rect">
              <a:avLst/>
            </a:prstGeom>
            <a:gradFill rotWithShape="1">
              <a:gsLst>
                <a:gs pos="0">
                  <a:srgbClr val="FFC000">
                    <a:lumMod val="110000"/>
                    <a:satMod val="105000"/>
                    <a:tint val="67000"/>
                  </a:srgbClr>
                </a:gs>
                <a:gs pos="50000">
                  <a:srgbClr val="FFC000">
                    <a:lumMod val="105000"/>
                    <a:satMod val="103000"/>
                    <a:tint val="73000"/>
                  </a:srgbClr>
                </a:gs>
                <a:gs pos="100000">
                  <a:srgbClr val="FFC0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(W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L</a:t>
              </a:r>
              <a:r>
                <a:rPr kumimoji="0" lang="en-US" altLang="zh-TW" sz="24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)</a:t>
              </a:r>
              <a:r>
                <a:rPr kumimoji="0" lang="en-US" altLang="zh-TW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T</a:t>
              </a: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911" name="矩形 910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912" name="文字方塊 168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+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914" name="直線單箭頭接點 6"/>
          <p:cNvCxnSpPr>
            <a:stCxn id="894" idx="3"/>
            <a:endCxn id="923" idx="2"/>
          </p:cNvCxnSpPr>
          <p:nvPr/>
        </p:nvCxnSpPr>
        <p:spPr>
          <a:xfrm flipV="1">
            <a:off x="4688863" y="4286098"/>
            <a:ext cx="595905" cy="801284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15" name="手繪多邊形 105"/>
          <p:cNvSpPr/>
          <p:nvPr/>
        </p:nvSpPr>
        <p:spPr>
          <a:xfrm>
            <a:off x="4713398" y="23512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16" name="矩形 915"/>
          <p:cNvSpPr/>
          <p:nvPr/>
        </p:nvSpPr>
        <p:spPr>
          <a:xfrm>
            <a:off x="8823034" y="5813194"/>
            <a:ext cx="599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L-1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17" name="矩形 916"/>
          <p:cNvSpPr/>
          <p:nvPr/>
        </p:nvSpPr>
        <p:spPr>
          <a:xfrm>
            <a:off x="4405004" y="2359681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18" name="手繪多邊形 23"/>
          <p:cNvSpPr/>
          <p:nvPr/>
        </p:nvSpPr>
        <p:spPr>
          <a:xfrm>
            <a:off x="6875490" y="4265082"/>
            <a:ext cx="882753" cy="1169232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19" name="手繪多邊形 24"/>
          <p:cNvSpPr/>
          <p:nvPr/>
        </p:nvSpPr>
        <p:spPr>
          <a:xfrm>
            <a:off x="8449457" y="4235101"/>
            <a:ext cx="2027943" cy="1783830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20" name="手繪多邊形 105"/>
          <p:cNvSpPr/>
          <p:nvPr/>
        </p:nvSpPr>
        <p:spPr>
          <a:xfrm>
            <a:off x="4703981" y="157950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21" name="矩形 920"/>
          <p:cNvSpPr/>
          <p:nvPr/>
        </p:nvSpPr>
        <p:spPr>
          <a:xfrm>
            <a:off x="5846227" y="2355376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22" name="矩形 921"/>
          <p:cNvSpPr/>
          <p:nvPr/>
        </p:nvSpPr>
        <p:spPr>
          <a:xfrm>
            <a:off x="7336126" y="2331869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23" name="矩形 922"/>
          <p:cNvSpPr/>
          <p:nvPr/>
        </p:nvSpPr>
        <p:spPr>
          <a:xfrm>
            <a:off x="5064088" y="3409022"/>
            <a:ext cx="457146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h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924" name="矩形 923"/>
          <p:cNvSpPr/>
          <p:nvPr/>
        </p:nvSpPr>
        <p:spPr>
          <a:xfrm>
            <a:off x="6399212" y="3422762"/>
            <a:ext cx="464853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h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04167" y="1364264"/>
            <a:ext cx="659931" cy="2746111"/>
            <a:chOff x="8704167" y="1364264"/>
            <a:chExt cx="659931" cy="2746111"/>
          </a:xfrm>
        </p:grpSpPr>
        <p:sp>
          <p:nvSpPr>
            <p:cNvPr id="832" name="矩形 831"/>
            <p:cNvSpPr/>
            <p:nvPr/>
          </p:nvSpPr>
          <p:spPr>
            <a:xfrm>
              <a:off x="8704167" y="1386925"/>
              <a:ext cx="523389" cy="27234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880" name="文字方塊 135"/>
            <p:cNvSpPr txBox="1"/>
            <p:nvPr/>
          </p:nvSpPr>
          <p:spPr>
            <a:xfrm rot="5400000">
              <a:off x="8646357" y="288308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……</a:t>
              </a:r>
              <a:endParaRPr kumimoji="0" lang="zh-TW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1" name="文字方塊 136"/>
                <p:cNvSpPr txBox="1"/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1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881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blipFill>
                  <a:blip r:embed="rId14"/>
                  <a:stretch>
                    <a:fillRect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136"/>
                <p:cNvSpPr txBox="1"/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2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0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blipFill>
                  <a:blip r:embed="rId15"/>
                  <a:stretch>
                    <a:fillRect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36"/>
                <p:cNvSpPr txBox="1"/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M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1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blipFill>
                  <a:blip r:embed="rId16"/>
                  <a:stretch>
                    <a:fillRect r="-1923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26" name="TextBox 925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2/35</a:t>
            </a:r>
          </a:p>
        </p:txBody>
      </p:sp>
    </p:spTree>
    <p:extLst>
      <p:ext uri="{BB962C8B-B14F-4D97-AF65-F5344CB8AC3E}">
        <p14:creationId xmlns:p14="http://schemas.microsoft.com/office/powerpoint/2010/main" val="128936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" grpId="0" animBg="1"/>
      <p:bldP spid="885" grpId="0" animBg="1"/>
      <p:bldP spid="886" grpId="0" animBg="1"/>
      <p:bldP spid="887" grpId="0" animBg="1"/>
      <p:bldP spid="888" grpId="0" animBg="1"/>
      <p:bldP spid="916" grpId="0"/>
      <p:bldP spid="917" grpId="0" animBg="1"/>
      <p:bldP spid="918" grpId="0" animBg="1"/>
      <p:bldP spid="919" grpId="0" animBg="1"/>
      <p:bldP spid="921" grpId="0" animBg="1"/>
      <p:bldP spid="922" grpId="0" animBg="1"/>
      <p:bldP spid="923" grpId="0" animBg="1"/>
      <p:bldP spid="9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字方塊 146"/>
              <p:cNvSpPr txBox="1"/>
              <p:nvPr/>
            </p:nvSpPr>
            <p:spPr>
              <a:xfrm>
                <a:off x="5176492" y="5848350"/>
                <a:ext cx="30024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kumimoji="0" lang="zh-TW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53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492" y="5848350"/>
                <a:ext cx="30024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331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5939" y="1078656"/>
            <a:ext cx="218199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</a:pPr>
            <a:r>
              <a:rPr lang="zh-CN" altLang="en-US" sz="2600" b="1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72"/>
              <p:cNvSpPr txBox="1"/>
              <p:nvPr/>
            </p:nvSpPr>
            <p:spPr>
              <a:xfrm>
                <a:off x="1845349" y="5870079"/>
                <a:ext cx="85013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TW" alt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kumimoji="0" lang="zh-TW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82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49" y="5870079"/>
                <a:ext cx="85013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52"/>
              <p:cNvSpPr txBox="1"/>
              <p:nvPr/>
            </p:nvSpPr>
            <p:spPr>
              <a:xfrm>
                <a:off x="3923138" y="5874813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TW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kumimoji="0" lang="zh-TW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8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138" y="5874813"/>
                <a:ext cx="5156925" cy="369332"/>
              </a:xfrm>
              <a:prstGeom prst="rect">
                <a:avLst/>
              </a:prstGeom>
              <a:blipFill>
                <a:blip r:embed="rId6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/>
          <p:cNvSpPr/>
          <p:nvPr/>
        </p:nvSpPr>
        <p:spPr>
          <a:xfrm>
            <a:off x="4553726" y="1391423"/>
            <a:ext cx="746342" cy="2746111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5879312" y="1391423"/>
            <a:ext cx="746342" cy="272976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7290871" y="1391423"/>
            <a:ext cx="746342" cy="2746111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3370624" y="1489307"/>
            <a:ext cx="498951" cy="262505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cxnSp>
        <p:nvCxnSpPr>
          <p:cNvPr id="189" name="直線單箭頭接點 92"/>
          <p:cNvCxnSpPr/>
          <p:nvPr/>
        </p:nvCxnSpPr>
        <p:spPr>
          <a:xfrm>
            <a:off x="7677679" y="2510086"/>
            <a:ext cx="101859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0" name="直線單箭頭接點 93"/>
          <p:cNvCxnSpPr/>
          <p:nvPr/>
        </p:nvCxnSpPr>
        <p:spPr>
          <a:xfrm>
            <a:off x="7786994" y="3755976"/>
            <a:ext cx="905748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1" name="直線單箭頭接點 94"/>
          <p:cNvCxnSpPr/>
          <p:nvPr/>
        </p:nvCxnSpPr>
        <p:spPr>
          <a:xfrm>
            <a:off x="7653794" y="1731283"/>
            <a:ext cx="1050372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2" name="矩形 191"/>
          <p:cNvSpPr/>
          <p:nvPr/>
        </p:nvSpPr>
        <p:spPr>
          <a:xfrm>
            <a:off x="3439011" y="2207000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3444829" y="1636671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aphicFrame>
        <p:nvGraphicFramePr>
          <p:cNvPr id="19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447897"/>
              </p:ext>
            </p:extLst>
          </p:nvPr>
        </p:nvGraphicFramePr>
        <p:xfrm>
          <a:off x="3457528" y="1541421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52280" imgH="215640" progId="Equation.3">
                  <p:embed/>
                </p:oleObj>
              </mc:Choice>
              <mc:Fallback>
                <p:oleObj name="方程式" r:id="rId7" imgW="152280" imgH="215640" progId="Equation.3">
                  <p:embed/>
                  <p:pic>
                    <p:nvPicPr>
                      <p:cNvPr id="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28" y="1541421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525899"/>
              </p:ext>
            </p:extLst>
          </p:nvPr>
        </p:nvGraphicFramePr>
        <p:xfrm>
          <a:off x="3462825" y="2124151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825" y="2124151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" name="橢圓 99"/>
          <p:cNvSpPr/>
          <p:nvPr/>
        </p:nvSpPr>
        <p:spPr>
          <a:xfrm>
            <a:off x="4650836" y="1472668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97" name="橢圓 100"/>
          <p:cNvSpPr/>
          <p:nvPr/>
        </p:nvSpPr>
        <p:spPr>
          <a:xfrm>
            <a:off x="4653178" y="2251238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98" name="橢圓 101"/>
          <p:cNvSpPr/>
          <p:nvPr/>
        </p:nvSpPr>
        <p:spPr>
          <a:xfrm>
            <a:off x="4641545" y="3479250"/>
            <a:ext cx="574158" cy="574158"/>
          </a:xfrm>
          <a:prstGeom prst="ellipse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99" name="文字方塊 102"/>
          <p:cNvSpPr txBox="1"/>
          <p:nvPr/>
        </p:nvSpPr>
        <p:spPr>
          <a:xfrm rot="5400000">
            <a:off x="4638799" y="290154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3448536" y="3604757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aphicFrame>
        <p:nvGraphicFramePr>
          <p:cNvPr id="20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463073"/>
              </p:ext>
            </p:extLst>
          </p:nvPr>
        </p:nvGraphicFramePr>
        <p:xfrm>
          <a:off x="3445420" y="3508503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90440" imgH="228600" progId="Equation.3">
                  <p:embed/>
                </p:oleObj>
              </mc:Choice>
              <mc:Fallback>
                <p:oleObj name="方程式" r:id="rId11" imgW="190440" imgH="228600" progId="Equation.3">
                  <p:embed/>
                  <p:pic>
                    <p:nvPicPr>
                      <p:cNvPr id="10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420" y="3508503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" name="文字方塊 105"/>
          <p:cNvSpPr txBox="1"/>
          <p:nvPr/>
        </p:nvSpPr>
        <p:spPr>
          <a:xfrm rot="5400000">
            <a:off x="3324469" y="288969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3" name="橢圓 106"/>
          <p:cNvSpPr/>
          <p:nvPr/>
        </p:nvSpPr>
        <p:spPr>
          <a:xfrm>
            <a:off x="5966398" y="1472668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04" name="橢圓 107"/>
          <p:cNvSpPr/>
          <p:nvPr/>
        </p:nvSpPr>
        <p:spPr>
          <a:xfrm>
            <a:off x="5968740" y="2251238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05" name="橢圓 108"/>
          <p:cNvSpPr/>
          <p:nvPr/>
        </p:nvSpPr>
        <p:spPr>
          <a:xfrm>
            <a:off x="5957107" y="3479250"/>
            <a:ext cx="574158" cy="574158"/>
          </a:xfrm>
          <a:prstGeom prst="ellipse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06" name="文字方塊 109"/>
          <p:cNvSpPr txBox="1"/>
          <p:nvPr/>
        </p:nvSpPr>
        <p:spPr>
          <a:xfrm rot="5400000">
            <a:off x="5954361" y="290154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7" name="橢圓 110"/>
          <p:cNvSpPr/>
          <p:nvPr/>
        </p:nvSpPr>
        <p:spPr>
          <a:xfrm>
            <a:off x="7366715" y="1453560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08" name="橢圓 111"/>
          <p:cNvSpPr/>
          <p:nvPr/>
        </p:nvSpPr>
        <p:spPr>
          <a:xfrm>
            <a:off x="7369057" y="2213469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09" name="橢圓 112"/>
          <p:cNvSpPr/>
          <p:nvPr/>
        </p:nvSpPr>
        <p:spPr>
          <a:xfrm>
            <a:off x="7376085" y="3460142"/>
            <a:ext cx="574158" cy="574158"/>
          </a:xfrm>
          <a:prstGeom prst="ellipse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10" name="文字方塊 113"/>
          <p:cNvSpPr txBox="1"/>
          <p:nvPr/>
        </p:nvSpPr>
        <p:spPr>
          <a:xfrm rot="5400000">
            <a:off x="7373339" y="287927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1" name="文字方塊 114"/>
          <p:cNvSpPr txBox="1"/>
          <p:nvPr/>
        </p:nvSpPr>
        <p:spPr>
          <a:xfrm>
            <a:off x="6538444" y="14140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2" name="文字方塊 115"/>
          <p:cNvSpPr txBox="1"/>
          <p:nvPr/>
        </p:nvSpPr>
        <p:spPr>
          <a:xfrm>
            <a:off x="6556067" y="219958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3" name="文字方塊 116"/>
          <p:cNvSpPr txBox="1"/>
          <p:nvPr/>
        </p:nvSpPr>
        <p:spPr>
          <a:xfrm>
            <a:off x="6568247" y="345587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214" name="直線單箭頭接點 117"/>
          <p:cNvCxnSpPr>
            <a:stCxn id="196" idx="6"/>
            <a:endCxn id="203" idx="2"/>
          </p:cNvCxnSpPr>
          <p:nvPr/>
        </p:nvCxnSpPr>
        <p:spPr>
          <a:xfrm>
            <a:off x="5224994" y="1759747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5" name="直線單箭頭接點 118"/>
          <p:cNvCxnSpPr/>
          <p:nvPr/>
        </p:nvCxnSpPr>
        <p:spPr>
          <a:xfrm>
            <a:off x="5224994" y="2551499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6" name="直線單箭頭接點 119"/>
          <p:cNvCxnSpPr/>
          <p:nvPr/>
        </p:nvCxnSpPr>
        <p:spPr>
          <a:xfrm>
            <a:off x="5215703" y="3773468"/>
            <a:ext cx="74140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直線單箭頭接點 120"/>
          <p:cNvCxnSpPr>
            <a:stCxn id="197" idx="6"/>
            <a:endCxn id="203" idx="2"/>
          </p:cNvCxnSpPr>
          <p:nvPr/>
        </p:nvCxnSpPr>
        <p:spPr>
          <a:xfrm flipV="1">
            <a:off x="5227336" y="1759747"/>
            <a:ext cx="739062" cy="77857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8" name="直線單箭頭接點 121"/>
          <p:cNvCxnSpPr>
            <a:stCxn id="196" idx="6"/>
            <a:endCxn id="204" idx="2"/>
          </p:cNvCxnSpPr>
          <p:nvPr/>
        </p:nvCxnSpPr>
        <p:spPr>
          <a:xfrm>
            <a:off x="5224994" y="1759747"/>
            <a:ext cx="743746" cy="77857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9" name="直線單箭頭接點 122"/>
          <p:cNvCxnSpPr>
            <a:stCxn id="196" idx="6"/>
            <a:endCxn id="205" idx="2"/>
          </p:cNvCxnSpPr>
          <p:nvPr/>
        </p:nvCxnSpPr>
        <p:spPr>
          <a:xfrm>
            <a:off x="5224995" y="1759747"/>
            <a:ext cx="732113" cy="200658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直線單箭頭接點 123"/>
          <p:cNvCxnSpPr>
            <a:stCxn id="197" idx="6"/>
            <a:endCxn id="205" idx="2"/>
          </p:cNvCxnSpPr>
          <p:nvPr/>
        </p:nvCxnSpPr>
        <p:spPr>
          <a:xfrm>
            <a:off x="5227337" y="2538317"/>
            <a:ext cx="729771" cy="122801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直線單箭頭接點 124"/>
          <p:cNvCxnSpPr>
            <a:stCxn id="198" idx="6"/>
            <a:endCxn id="203" idx="2"/>
          </p:cNvCxnSpPr>
          <p:nvPr/>
        </p:nvCxnSpPr>
        <p:spPr>
          <a:xfrm flipV="1">
            <a:off x="5215704" y="1759747"/>
            <a:ext cx="750695" cy="200658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2" name="直線單箭頭接點 125"/>
          <p:cNvCxnSpPr>
            <a:stCxn id="198" idx="6"/>
            <a:endCxn id="204" idx="2"/>
          </p:cNvCxnSpPr>
          <p:nvPr/>
        </p:nvCxnSpPr>
        <p:spPr>
          <a:xfrm flipV="1">
            <a:off x="5215704" y="2538317"/>
            <a:ext cx="753037" cy="122801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3" name="直線單箭頭接點 126"/>
          <p:cNvCxnSpPr>
            <a:endCxn id="196" idx="2"/>
          </p:cNvCxnSpPr>
          <p:nvPr/>
        </p:nvCxnSpPr>
        <p:spPr>
          <a:xfrm flipV="1">
            <a:off x="3791436" y="1759748"/>
            <a:ext cx="859400" cy="2999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" name="直線單箭頭接點 127"/>
          <p:cNvCxnSpPr>
            <a:stCxn id="193" idx="3"/>
            <a:endCxn id="197" idx="2"/>
          </p:cNvCxnSpPr>
          <p:nvPr/>
        </p:nvCxnSpPr>
        <p:spPr>
          <a:xfrm>
            <a:off x="3787730" y="1808121"/>
            <a:ext cx="865449" cy="73019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5" name="直線單箭頭接點 128"/>
          <p:cNvCxnSpPr>
            <a:stCxn id="193" idx="3"/>
            <a:endCxn id="198" idx="2"/>
          </p:cNvCxnSpPr>
          <p:nvPr/>
        </p:nvCxnSpPr>
        <p:spPr>
          <a:xfrm>
            <a:off x="3787729" y="1808121"/>
            <a:ext cx="853816" cy="195820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6" name="直線單箭頭接點 129"/>
          <p:cNvCxnSpPr>
            <a:stCxn id="195" idx="3"/>
            <a:endCxn id="196" idx="2"/>
          </p:cNvCxnSpPr>
          <p:nvPr/>
        </p:nvCxnSpPr>
        <p:spPr>
          <a:xfrm flipV="1">
            <a:off x="3815250" y="1759747"/>
            <a:ext cx="835587" cy="59538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7" name="直線單箭頭接點 130"/>
          <p:cNvCxnSpPr>
            <a:stCxn id="192" idx="3"/>
            <a:endCxn id="197" idx="2"/>
          </p:cNvCxnSpPr>
          <p:nvPr/>
        </p:nvCxnSpPr>
        <p:spPr>
          <a:xfrm>
            <a:off x="3781912" y="2378451"/>
            <a:ext cx="871267" cy="15986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8" name="直線單箭頭接點 131"/>
          <p:cNvCxnSpPr>
            <a:stCxn id="192" idx="3"/>
            <a:endCxn id="198" idx="2"/>
          </p:cNvCxnSpPr>
          <p:nvPr/>
        </p:nvCxnSpPr>
        <p:spPr>
          <a:xfrm>
            <a:off x="3781911" y="2378451"/>
            <a:ext cx="859634" cy="138787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9" name="直線單箭頭接點 132"/>
          <p:cNvCxnSpPr>
            <a:stCxn id="201" idx="3"/>
            <a:endCxn id="196" idx="2"/>
          </p:cNvCxnSpPr>
          <p:nvPr/>
        </p:nvCxnSpPr>
        <p:spPr>
          <a:xfrm flipV="1">
            <a:off x="3853408" y="1759748"/>
            <a:ext cx="797428" cy="199323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0" name="直線單箭頭接點 133"/>
          <p:cNvCxnSpPr>
            <a:stCxn id="201" idx="3"/>
            <a:endCxn id="197" idx="2"/>
          </p:cNvCxnSpPr>
          <p:nvPr/>
        </p:nvCxnSpPr>
        <p:spPr>
          <a:xfrm flipV="1">
            <a:off x="3827040" y="2538317"/>
            <a:ext cx="826139" cy="12146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1" name="直線單箭頭接點 134"/>
          <p:cNvCxnSpPr>
            <a:stCxn id="201" idx="3"/>
            <a:endCxn id="198" idx="2"/>
          </p:cNvCxnSpPr>
          <p:nvPr/>
        </p:nvCxnSpPr>
        <p:spPr>
          <a:xfrm>
            <a:off x="3827039" y="3752923"/>
            <a:ext cx="814506" cy="134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6" name="矩形 235"/>
          <p:cNvSpPr/>
          <p:nvPr/>
        </p:nvSpPr>
        <p:spPr>
          <a:xfrm>
            <a:off x="3842545" y="2040936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5230748" y="2049140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6696753" y="2042241"/>
            <a:ext cx="807843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3754674" y="3436181"/>
            <a:ext cx="441359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x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/>
              <p:cNvSpPr/>
              <p:nvPr/>
            </p:nvSpPr>
            <p:spPr>
              <a:xfrm>
                <a:off x="7988826" y="3444864"/>
                <a:ext cx="441359" cy="877076"/>
              </a:xfrm>
              <a:prstGeom prst="rect">
                <a:avLst/>
              </a:prstGeom>
              <a:gradFill rotWithShape="1">
                <a:gsLst>
                  <a:gs pos="0">
                    <a:srgbClr val="4472C4">
                      <a:lumMod val="110000"/>
                      <a:satMod val="105000"/>
                      <a:tint val="67000"/>
                    </a:srgbClr>
                  </a:gs>
                  <a:gs pos="50000">
                    <a:srgbClr val="4472C4">
                      <a:lumMod val="105000"/>
                      <a:satMod val="103000"/>
                      <a:tint val="73000"/>
                    </a:srgbClr>
                  </a:gs>
                  <a:gs pos="100000">
                    <a:srgbClr val="4472C4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i="1" kern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TW" altLang="en-US" sz="2400" kern="0" baseline="300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zh-TW" altLang="en-US" sz="2400" kern="0" baseline="30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4" name="矩形 2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826" y="3444864"/>
                <a:ext cx="441359" cy="877076"/>
              </a:xfrm>
              <a:prstGeom prst="rect">
                <a:avLst/>
              </a:prstGeom>
              <a:blipFill>
                <a:blip r:embed="rId13"/>
                <a:stretch>
                  <a:fillRect l="-5479" r="-5479"/>
                </a:stretch>
              </a:blip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矩形 244"/>
              <p:cNvSpPr/>
              <p:nvPr/>
            </p:nvSpPr>
            <p:spPr>
              <a:xfrm>
                <a:off x="2045226" y="4502482"/>
                <a:ext cx="441359" cy="877076"/>
              </a:xfrm>
              <a:prstGeom prst="rect">
                <a:avLst/>
              </a:prstGeom>
              <a:gradFill rotWithShape="1">
                <a:gsLst>
                  <a:gs pos="0">
                    <a:srgbClr val="4472C4">
                      <a:lumMod val="110000"/>
                      <a:satMod val="105000"/>
                      <a:tint val="67000"/>
                    </a:srgbClr>
                  </a:gs>
                  <a:gs pos="50000">
                    <a:srgbClr val="4472C4">
                      <a:lumMod val="105000"/>
                      <a:satMod val="103000"/>
                      <a:tint val="73000"/>
                    </a:srgbClr>
                  </a:gs>
                  <a:gs pos="100000">
                    <a:srgbClr val="4472C4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zh-TW" sz="24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TW" altLang="en-US" sz="2400" kern="0" baseline="300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kumimoji="0" lang="zh-TW" altLang="en-US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245" name="矩形 2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226" y="4502482"/>
                <a:ext cx="441359" cy="877076"/>
              </a:xfrm>
              <a:prstGeom prst="rect">
                <a:avLst/>
              </a:prstGeom>
              <a:blipFill>
                <a:blip r:embed="rId14"/>
                <a:stretch>
                  <a:fillRect l="-5479" r="-5479"/>
                </a:stretch>
              </a:blipFill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6" name="群組 5"/>
          <p:cNvGrpSpPr/>
          <p:nvPr/>
        </p:nvGrpSpPr>
        <p:grpSpPr>
          <a:xfrm>
            <a:off x="2546727" y="4491884"/>
            <a:ext cx="1423980" cy="877076"/>
            <a:chOff x="3047770" y="5664328"/>
            <a:chExt cx="1423980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字方塊 4"/>
                <p:cNvSpPr txBox="1"/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US" altLang="zh-TW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TW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kumimoji="0" lang="zh-TW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l="-1717" b="-344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矩形 247"/>
            <p:cNvSpPr/>
            <p:nvPr/>
          </p:nvSpPr>
          <p:spPr>
            <a:xfrm>
              <a:off x="3778163" y="5664328"/>
              <a:ext cx="441359" cy="877076"/>
            </a:xfrm>
            <a:prstGeom prst="rect">
              <a:avLst/>
            </a:prstGeom>
            <a:gradFill rotWithShape="1">
              <a:gsLst>
                <a:gs pos="0">
                  <a:srgbClr val="4472C4">
                    <a:lumMod val="110000"/>
                    <a:satMod val="105000"/>
                    <a:tint val="67000"/>
                  </a:srgbClr>
                </a:gs>
                <a:gs pos="50000">
                  <a:srgbClr val="4472C4">
                    <a:lumMod val="105000"/>
                    <a:satMod val="103000"/>
                    <a:tint val="73000"/>
                  </a:srgbClr>
                </a:gs>
                <a:gs pos="100000">
                  <a:srgbClr val="4472C4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rPr>
                <a:t>x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</p:grpSp>
      <p:sp>
        <p:nvSpPr>
          <p:cNvPr id="249" name="矩形 248"/>
          <p:cNvSpPr/>
          <p:nvPr/>
        </p:nvSpPr>
        <p:spPr>
          <a:xfrm>
            <a:off x="7458446" y="5596282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5619438" y="5618434"/>
            <a:ext cx="850694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(W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r>
              <a:rPr lang="en-US" altLang="zh-TW" sz="2400" kern="0" dirty="0">
                <a:solidFill>
                  <a:prstClr val="black"/>
                </a:solidFill>
                <a:latin typeface="Calibri" panose="020F0502020204030204"/>
              </a:rPr>
              <a:t>)</a:t>
            </a:r>
            <a:r>
              <a:rPr lang="en-US" altLang="zh-TW" sz="2400" kern="0" baseline="30000" dirty="0">
                <a:solidFill>
                  <a:prstClr val="black"/>
                </a:solidFill>
                <a:latin typeface="Calibri" panose="020F0502020204030204"/>
              </a:rPr>
              <a:t>T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6537904" y="5594478"/>
            <a:ext cx="441359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x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2" name="文字方塊 145"/>
          <p:cNvSpPr txBox="1"/>
          <p:nvPr/>
        </p:nvSpPr>
        <p:spPr>
          <a:xfrm>
            <a:off x="7038544" y="5790082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+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8400409" y="5612926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4313385" y="5635078"/>
            <a:ext cx="860617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(W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r>
              <a:rPr kumimoji="0" lang="en-US" altLang="zh-TW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)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T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6" name="文字方塊 151"/>
          <p:cNvSpPr txBox="1"/>
          <p:nvPr/>
        </p:nvSpPr>
        <p:spPr>
          <a:xfrm>
            <a:off x="8045220" y="5801670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+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9615450" y="5594479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2653408" y="5627844"/>
            <a:ext cx="824294" cy="832399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(W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r>
              <a:rPr kumimoji="0" lang="en-US" altLang="zh-TW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)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T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9" name="文字方塊 157"/>
          <p:cNvSpPr txBox="1"/>
          <p:nvPr/>
        </p:nvSpPr>
        <p:spPr>
          <a:xfrm>
            <a:off x="9304896" y="5793937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+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0" name="文字方塊 7"/>
          <p:cNvSpPr txBox="1"/>
          <p:nvPr/>
        </p:nvSpPr>
        <p:spPr>
          <a:xfrm>
            <a:off x="3384078" y="572852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2" name="文字方塊 174"/>
          <p:cNvSpPr txBox="1"/>
          <p:nvPr/>
        </p:nvSpPr>
        <p:spPr>
          <a:xfrm>
            <a:off x="8896935" y="568390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3" name="文字方塊 175"/>
          <p:cNvSpPr txBox="1"/>
          <p:nvPr/>
        </p:nvSpPr>
        <p:spPr>
          <a:xfrm>
            <a:off x="4268749" y="4699980"/>
            <a:ext cx="63419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使用第三方库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Numpy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来加速矩阵运算</a:t>
            </a:r>
            <a:endParaRPr lang="zh-TW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sp>
        <p:nvSpPr>
          <p:cNvPr id="264" name="手繪多邊形 105"/>
          <p:cNvSpPr/>
          <p:nvPr/>
        </p:nvSpPr>
        <p:spPr>
          <a:xfrm>
            <a:off x="7428214" y="357984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5" name="手繪多邊形 105"/>
          <p:cNvSpPr/>
          <p:nvPr/>
        </p:nvSpPr>
        <p:spPr>
          <a:xfrm>
            <a:off x="4694965" y="2384976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6" name="手繪多邊形 105"/>
          <p:cNvSpPr/>
          <p:nvPr/>
        </p:nvSpPr>
        <p:spPr>
          <a:xfrm>
            <a:off x="4693290" y="3578386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7" name="手繪多邊形 105"/>
          <p:cNvSpPr/>
          <p:nvPr/>
        </p:nvSpPr>
        <p:spPr>
          <a:xfrm>
            <a:off x="6000231" y="3596426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8" name="手繪多邊形 105"/>
          <p:cNvSpPr/>
          <p:nvPr/>
        </p:nvSpPr>
        <p:spPr>
          <a:xfrm>
            <a:off x="6006935" y="157040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9" name="手繪多邊形 105"/>
          <p:cNvSpPr/>
          <p:nvPr/>
        </p:nvSpPr>
        <p:spPr>
          <a:xfrm>
            <a:off x="6023234" y="237449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70" name="手繪多邊形 105"/>
          <p:cNvSpPr/>
          <p:nvPr/>
        </p:nvSpPr>
        <p:spPr>
          <a:xfrm>
            <a:off x="4713065" y="1590209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71" name="手繪多邊形 105"/>
          <p:cNvSpPr/>
          <p:nvPr/>
        </p:nvSpPr>
        <p:spPr>
          <a:xfrm>
            <a:off x="7429154" y="157791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72" name="手繪多邊形 105"/>
          <p:cNvSpPr/>
          <p:nvPr/>
        </p:nvSpPr>
        <p:spPr>
          <a:xfrm>
            <a:off x="7428214" y="236560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5846227" y="2382535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36126" y="2359028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L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2" name="矩形 241"/>
          <p:cNvSpPr/>
          <p:nvPr/>
        </p:nvSpPr>
        <p:spPr>
          <a:xfrm>
            <a:off x="5064088" y="3436181"/>
            <a:ext cx="457882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h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6399212" y="3449921"/>
            <a:ext cx="490833" cy="877076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h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2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4405004" y="2386840"/>
            <a:ext cx="450868" cy="854551"/>
          </a:xfrm>
          <a:prstGeom prst="rect">
            <a:avLst/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b</a:t>
            </a:r>
            <a:r>
              <a:rPr kumimoji="0" lang="en-US" altLang="zh-TW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1</a:t>
            </a:r>
            <a:endParaRPr kumimoji="0" lang="zh-TW" altLang="en-US" sz="2400" b="0" i="0" u="none" strike="noStrike" kern="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8742749" y="1372086"/>
            <a:ext cx="659931" cy="2746111"/>
            <a:chOff x="8704167" y="1364264"/>
            <a:chExt cx="659931" cy="2746111"/>
          </a:xfrm>
        </p:grpSpPr>
        <p:sp>
          <p:nvSpPr>
            <p:cNvPr id="99" name="矩形 98"/>
            <p:cNvSpPr/>
            <p:nvPr/>
          </p:nvSpPr>
          <p:spPr>
            <a:xfrm>
              <a:off x="8704167" y="1386925"/>
              <a:ext cx="523389" cy="27234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00" name="文字方塊 135"/>
            <p:cNvSpPr txBox="1"/>
            <p:nvPr/>
          </p:nvSpPr>
          <p:spPr>
            <a:xfrm rot="5400000">
              <a:off x="8646357" y="288308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……</a:t>
              </a:r>
              <a:endParaRPr kumimoji="0" lang="zh-TW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36"/>
                <p:cNvSpPr txBox="1"/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1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1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blipFill>
                  <a:blip r:embed="rId16"/>
                  <a:stretch>
                    <a:fillRect b="-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36"/>
                <p:cNvSpPr txBox="1"/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2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2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blipFill>
                  <a:blip r:embed="rId17"/>
                  <a:stretch>
                    <a:fillRect b="-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36"/>
                <p:cNvSpPr txBox="1"/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M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3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blipFill>
                  <a:blip r:embed="rId18"/>
                  <a:stretch>
                    <a:fillRect r="-2913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4" name="TextBox 273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3/35</a:t>
            </a:r>
          </a:p>
        </p:txBody>
      </p:sp>
    </p:spTree>
    <p:extLst>
      <p:ext uri="{BB962C8B-B14F-4D97-AF65-F5344CB8AC3E}">
        <p14:creationId xmlns:p14="http://schemas.microsoft.com/office/powerpoint/2010/main" val="405140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182" grpId="0"/>
      <p:bldP spid="183" grpId="0"/>
      <p:bldP spid="245" grpId="0" animBg="1"/>
      <p:bldP spid="249" grpId="0" animBg="1"/>
      <p:bldP spid="250" grpId="0" animBg="1"/>
      <p:bldP spid="251" grpId="0" animBg="1"/>
      <p:bldP spid="252" grpId="0"/>
      <p:bldP spid="254" grpId="0" animBg="1"/>
      <p:bldP spid="255" grpId="0" animBg="1"/>
      <p:bldP spid="256" grpId="0"/>
      <p:bldP spid="257" grpId="0" animBg="1"/>
      <p:bldP spid="258" grpId="0" animBg="1"/>
      <p:bldP spid="259" grpId="0"/>
      <p:bldP spid="260" grpId="0"/>
      <p:bldP spid="262" grpId="0"/>
      <p:bldP spid="2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331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5939" y="1078656"/>
            <a:ext cx="218199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</a:pPr>
            <a:r>
              <a:rPr lang="zh-CN" altLang="en-US" sz="2600" b="1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神经网络</a:t>
            </a:r>
          </a:p>
        </p:txBody>
      </p:sp>
      <p:sp>
        <p:nvSpPr>
          <p:cNvPr id="176" name="矩形 175"/>
          <p:cNvSpPr/>
          <p:nvPr/>
        </p:nvSpPr>
        <p:spPr>
          <a:xfrm>
            <a:off x="2758936" y="2674551"/>
            <a:ext cx="498951" cy="262505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cxnSp>
        <p:nvCxnSpPr>
          <p:cNvPr id="177" name="直線單箭頭接點 58"/>
          <p:cNvCxnSpPr/>
          <p:nvPr/>
        </p:nvCxnSpPr>
        <p:spPr>
          <a:xfrm>
            <a:off x="7871210" y="3695330"/>
            <a:ext cx="1018599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直線單箭頭接點 59"/>
          <p:cNvCxnSpPr/>
          <p:nvPr/>
        </p:nvCxnSpPr>
        <p:spPr>
          <a:xfrm>
            <a:off x="7980525" y="4941220"/>
            <a:ext cx="905748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9" name="直線單箭頭接點 60"/>
          <p:cNvCxnSpPr/>
          <p:nvPr/>
        </p:nvCxnSpPr>
        <p:spPr>
          <a:xfrm>
            <a:off x="7847325" y="2916527"/>
            <a:ext cx="1050372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0" name="矩形 179"/>
          <p:cNvSpPr/>
          <p:nvPr/>
        </p:nvSpPr>
        <p:spPr>
          <a:xfrm>
            <a:off x="2827323" y="3392244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2833141" y="2821915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pSp>
        <p:nvGrpSpPr>
          <p:cNvPr id="182" name="群組 65"/>
          <p:cNvGrpSpPr/>
          <p:nvPr/>
        </p:nvGrpSpPr>
        <p:grpSpPr>
          <a:xfrm>
            <a:off x="3942038" y="2646910"/>
            <a:ext cx="746342" cy="2675868"/>
            <a:chOff x="2504565" y="2224872"/>
            <a:chExt cx="746342" cy="2675868"/>
          </a:xfrm>
        </p:grpSpPr>
        <p:sp>
          <p:nvSpPr>
            <p:cNvPr id="183" name="矩形 182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84" name="橢圓 68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5B9BD5">
                    <a:lumMod val="110000"/>
                    <a:satMod val="105000"/>
                    <a:tint val="67000"/>
                  </a:srgbClr>
                </a:gs>
                <a:gs pos="50000">
                  <a:srgbClr val="5B9BD5">
                    <a:lumMod val="105000"/>
                    <a:satMod val="103000"/>
                    <a:tint val="73000"/>
                  </a:srgbClr>
                </a:gs>
                <a:gs pos="100000">
                  <a:srgbClr val="5B9BD5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85" name="橢圓 69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5B9BD5">
                    <a:lumMod val="110000"/>
                    <a:satMod val="105000"/>
                    <a:tint val="67000"/>
                  </a:srgbClr>
                </a:gs>
                <a:gs pos="50000">
                  <a:srgbClr val="5B9BD5">
                    <a:lumMod val="105000"/>
                    <a:satMod val="103000"/>
                    <a:tint val="73000"/>
                  </a:srgbClr>
                </a:gs>
                <a:gs pos="100000">
                  <a:srgbClr val="5B9BD5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86" name="橢圓 70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5B9BD5">
                    <a:lumMod val="110000"/>
                    <a:satMod val="105000"/>
                    <a:tint val="67000"/>
                  </a:srgbClr>
                </a:gs>
                <a:gs pos="50000">
                  <a:srgbClr val="5B9BD5">
                    <a:lumMod val="105000"/>
                    <a:satMod val="103000"/>
                    <a:tint val="73000"/>
                  </a:srgbClr>
                </a:gs>
                <a:gs pos="100000">
                  <a:srgbClr val="5B9BD5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87" name="文字方塊 71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……</a:t>
              </a:r>
              <a:endParaRPr kumimoji="0" lang="zh-TW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8" name="矩形 187"/>
          <p:cNvSpPr/>
          <p:nvPr/>
        </p:nvSpPr>
        <p:spPr>
          <a:xfrm>
            <a:off x="2836848" y="4790001"/>
            <a:ext cx="342900" cy="342900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189" name="文字方塊 74"/>
          <p:cNvSpPr txBox="1"/>
          <p:nvPr/>
        </p:nvSpPr>
        <p:spPr>
          <a:xfrm rot="5400000">
            <a:off x="2712781" y="407494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90" name="群組 82"/>
          <p:cNvGrpSpPr/>
          <p:nvPr/>
        </p:nvGrpSpPr>
        <p:grpSpPr>
          <a:xfrm>
            <a:off x="7484402" y="2638804"/>
            <a:ext cx="746342" cy="2683974"/>
            <a:chOff x="6046929" y="2216766"/>
            <a:chExt cx="746342" cy="2683974"/>
          </a:xfrm>
        </p:grpSpPr>
        <p:sp>
          <p:nvSpPr>
            <p:cNvPr id="191" name="矩形 190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92" name="橢圓 85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93" name="橢圓 86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94" name="橢圓 87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  <a:gradFill rotWithShape="1">
              <a:gsLst>
                <a:gs pos="0">
                  <a:srgbClr val="70AD47">
                    <a:lumMod val="110000"/>
                    <a:satMod val="105000"/>
                    <a:tint val="67000"/>
                  </a:srgbClr>
                </a:gs>
                <a:gs pos="50000">
                  <a:srgbClr val="70AD47">
                    <a:lumMod val="105000"/>
                    <a:satMod val="103000"/>
                    <a:tint val="73000"/>
                  </a:srgbClr>
                </a:gs>
                <a:gs pos="100000">
                  <a:srgbClr val="70AD47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195" name="文字方塊 88"/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……</a:t>
              </a:r>
              <a:endParaRPr kumimoji="0" lang="zh-TW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6" name="文字方塊 89"/>
          <p:cNvSpPr txBox="1"/>
          <p:nvPr/>
        </p:nvSpPr>
        <p:spPr>
          <a:xfrm>
            <a:off x="4630469" y="261390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7" name="文字方塊 90"/>
          <p:cNvSpPr txBox="1"/>
          <p:nvPr/>
        </p:nvSpPr>
        <p:spPr>
          <a:xfrm>
            <a:off x="4637418" y="337488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8" name="文字方塊 91"/>
          <p:cNvSpPr txBox="1"/>
          <p:nvPr/>
        </p:nvSpPr>
        <p:spPr>
          <a:xfrm>
            <a:off x="4666434" y="459022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……</a:t>
            </a: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99" name="群組 126"/>
          <p:cNvGrpSpPr/>
          <p:nvPr/>
        </p:nvGrpSpPr>
        <p:grpSpPr>
          <a:xfrm>
            <a:off x="5343495" y="2630101"/>
            <a:ext cx="1409951" cy="2675868"/>
            <a:chOff x="3237982" y="2761595"/>
            <a:chExt cx="1409951" cy="2675868"/>
          </a:xfrm>
        </p:grpSpPr>
        <p:grpSp>
          <p:nvGrpSpPr>
            <p:cNvPr id="200" name="群組 75"/>
            <p:cNvGrpSpPr/>
            <p:nvPr/>
          </p:nvGrpSpPr>
          <p:grpSpPr>
            <a:xfrm>
              <a:off x="3901591" y="2761595"/>
              <a:ext cx="746342" cy="2675868"/>
              <a:chOff x="3830151" y="2208525"/>
              <a:chExt cx="746342" cy="2675868"/>
            </a:xfrm>
          </p:grpSpPr>
          <p:sp>
            <p:nvSpPr>
              <p:cNvPr id="211" name="矩形 210"/>
              <p:cNvSpPr/>
              <p:nvPr/>
            </p:nvSpPr>
            <p:spPr>
              <a:xfrm>
                <a:off x="3830151" y="2208525"/>
                <a:ext cx="746342" cy="2675868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12" name="橢圓 78"/>
              <p:cNvSpPr/>
              <p:nvPr/>
            </p:nvSpPr>
            <p:spPr>
              <a:xfrm>
                <a:off x="3917237" y="2235874"/>
                <a:ext cx="574158" cy="574158"/>
              </a:xfrm>
              <a:prstGeom prst="ellipse">
                <a:avLst/>
              </a:prstGeom>
              <a:gradFill rotWithShape="1">
                <a:gsLst>
                  <a:gs pos="0">
                    <a:srgbClr val="ED7D31">
                      <a:lumMod val="110000"/>
                      <a:satMod val="105000"/>
                      <a:tint val="67000"/>
                    </a:srgbClr>
                  </a:gs>
                  <a:gs pos="50000">
                    <a:srgbClr val="ED7D31">
                      <a:lumMod val="105000"/>
                      <a:satMod val="103000"/>
                      <a:tint val="73000"/>
                    </a:srgbClr>
                  </a:gs>
                  <a:gs pos="100000">
                    <a:srgbClr val="ED7D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13" name="橢圓 79"/>
              <p:cNvSpPr/>
              <p:nvPr/>
            </p:nvSpPr>
            <p:spPr>
              <a:xfrm>
                <a:off x="3919579" y="3014444"/>
                <a:ext cx="574158" cy="574158"/>
              </a:xfrm>
              <a:prstGeom prst="ellipse">
                <a:avLst/>
              </a:prstGeom>
              <a:gradFill rotWithShape="1">
                <a:gsLst>
                  <a:gs pos="0">
                    <a:srgbClr val="ED7D31">
                      <a:lumMod val="110000"/>
                      <a:satMod val="105000"/>
                      <a:tint val="67000"/>
                    </a:srgbClr>
                  </a:gs>
                  <a:gs pos="50000">
                    <a:srgbClr val="ED7D31">
                      <a:lumMod val="105000"/>
                      <a:satMod val="103000"/>
                      <a:tint val="73000"/>
                    </a:srgbClr>
                  </a:gs>
                  <a:gs pos="100000">
                    <a:srgbClr val="ED7D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14" name="橢圓 80"/>
              <p:cNvSpPr/>
              <p:nvPr/>
            </p:nvSpPr>
            <p:spPr>
              <a:xfrm>
                <a:off x="3907946" y="4242456"/>
                <a:ext cx="574158" cy="574158"/>
              </a:xfrm>
              <a:prstGeom prst="ellipse">
                <a:avLst/>
              </a:prstGeom>
              <a:gradFill rotWithShape="1">
                <a:gsLst>
                  <a:gs pos="0">
                    <a:srgbClr val="ED7D31">
                      <a:lumMod val="110000"/>
                      <a:satMod val="105000"/>
                      <a:tint val="67000"/>
                    </a:srgbClr>
                  </a:gs>
                  <a:gs pos="50000">
                    <a:srgbClr val="ED7D31">
                      <a:lumMod val="105000"/>
                      <a:satMod val="103000"/>
                      <a:tint val="73000"/>
                    </a:srgbClr>
                  </a:gs>
                  <a:gs pos="100000">
                    <a:srgbClr val="ED7D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15" name="文字方塊 81"/>
              <p:cNvSpPr txBox="1"/>
              <p:nvPr/>
            </p:nvSpPr>
            <p:spPr>
              <a:xfrm rot="5400000">
                <a:off x="3905199" y="3664749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……</a:t>
                </a:r>
                <a:endParaRPr kumimoji="0" lang="zh-TW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01" name="群組 92"/>
            <p:cNvGrpSpPr/>
            <p:nvPr/>
          </p:nvGrpSpPr>
          <p:grpSpPr>
            <a:xfrm>
              <a:off x="3237982" y="3061275"/>
              <a:ext cx="753037" cy="2028469"/>
              <a:chOff x="3166542" y="2508205"/>
              <a:chExt cx="753037" cy="2028469"/>
            </a:xfrm>
          </p:grpSpPr>
          <p:cxnSp>
            <p:nvCxnSpPr>
              <p:cNvPr id="202" name="直線單箭頭接點 93"/>
              <p:cNvCxnSpPr>
                <a:stCxn id="184" idx="6"/>
                <a:endCxn id="212" idx="2"/>
              </p:cNvCxnSpPr>
              <p:nvPr/>
            </p:nvCxnSpPr>
            <p:spPr>
              <a:xfrm>
                <a:off x="3175833" y="2508205"/>
                <a:ext cx="741404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3" name="直線單箭頭接點 94"/>
              <p:cNvCxnSpPr/>
              <p:nvPr/>
            </p:nvCxnSpPr>
            <p:spPr>
              <a:xfrm>
                <a:off x="3175833" y="3314705"/>
                <a:ext cx="741404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4" name="直線單箭頭接點 95"/>
              <p:cNvCxnSpPr/>
              <p:nvPr/>
            </p:nvCxnSpPr>
            <p:spPr>
              <a:xfrm>
                <a:off x="3166542" y="4536674"/>
                <a:ext cx="741404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5" name="直線單箭頭接點 96"/>
              <p:cNvCxnSpPr>
                <a:stCxn id="185" idx="6"/>
                <a:endCxn id="212" idx="2"/>
              </p:cNvCxnSpPr>
              <p:nvPr/>
            </p:nvCxnSpPr>
            <p:spPr>
              <a:xfrm flipV="1">
                <a:off x="3178175" y="2508205"/>
                <a:ext cx="739062" cy="77857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6" name="直線單箭頭接點 97"/>
              <p:cNvCxnSpPr>
                <a:stCxn id="184" idx="6"/>
                <a:endCxn id="213" idx="2"/>
              </p:cNvCxnSpPr>
              <p:nvPr/>
            </p:nvCxnSpPr>
            <p:spPr>
              <a:xfrm>
                <a:off x="3175833" y="2508205"/>
                <a:ext cx="743746" cy="77857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7" name="直線單箭頭接點 98"/>
              <p:cNvCxnSpPr>
                <a:stCxn id="184" idx="6"/>
                <a:endCxn id="214" idx="2"/>
              </p:cNvCxnSpPr>
              <p:nvPr/>
            </p:nvCxnSpPr>
            <p:spPr>
              <a:xfrm>
                <a:off x="3175833" y="2508205"/>
                <a:ext cx="732113" cy="2006582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8" name="直線單箭頭接點 99"/>
              <p:cNvCxnSpPr>
                <a:stCxn id="185" idx="6"/>
                <a:endCxn id="214" idx="2"/>
              </p:cNvCxnSpPr>
              <p:nvPr/>
            </p:nvCxnSpPr>
            <p:spPr>
              <a:xfrm>
                <a:off x="3178175" y="3286775"/>
                <a:ext cx="729771" cy="1228012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09" name="直線單箭頭接點 100"/>
              <p:cNvCxnSpPr>
                <a:stCxn id="186" idx="6"/>
                <a:endCxn id="212" idx="2"/>
              </p:cNvCxnSpPr>
              <p:nvPr/>
            </p:nvCxnSpPr>
            <p:spPr>
              <a:xfrm flipV="1">
                <a:off x="3166542" y="2508205"/>
                <a:ext cx="750695" cy="2006582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10" name="直線單箭頭接點 101"/>
              <p:cNvCxnSpPr>
                <a:stCxn id="186" idx="6"/>
                <a:endCxn id="213" idx="2"/>
              </p:cNvCxnSpPr>
              <p:nvPr/>
            </p:nvCxnSpPr>
            <p:spPr>
              <a:xfrm flipV="1">
                <a:off x="3166542" y="3286775"/>
                <a:ext cx="753037" cy="1228012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cxnSp>
        <p:nvCxnSpPr>
          <p:cNvPr id="216" name="直線單箭頭接點 102"/>
          <p:cNvCxnSpPr>
            <a:endCxn id="184" idx="2"/>
          </p:cNvCxnSpPr>
          <p:nvPr/>
        </p:nvCxnSpPr>
        <p:spPr>
          <a:xfrm flipV="1">
            <a:off x="3179748" y="2944992"/>
            <a:ext cx="859400" cy="2999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直線單箭頭接點 103"/>
          <p:cNvCxnSpPr>
            <a:stCxn id="181" idx="3"/>
            <a:endCxn id="185" idx="2"/>
          </p:cNvCxnSpPr>
          <p:nvPr/>
        </p:nvCxnSpPr>
        <p:spPr>
          <a:xfrm>
            <a:off x="3176042" y="2993365"/>
            <a:ext cx="865449" cy="73019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8" name="直線單箭頭接點 104"/>
          <p:cNvCxnSpPr>
            <a:stCxn id="181" idx="3"/>
            <a:endCxn id="186" idx="2"/>
          </p:cNvCxnSpPr>
          <p:nvPr/>
        </p:nvCxnSpPr>
        <p:spPr>
          <a:xfrm>
            <a:off x="3176041" y="2993365"/>
            <a:ext cx="853816" cy="195820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9" name="直線單箭頭接點 105"/>
          <p:cNvCxnSpPr>
            <a:endCxn id="184" idx="2"/>
          </p:cNvCxnSpPr>
          <p:nvPr/>
        </p:nvCxnSpPr>
        <p:spPr>
          <a:xfrm flipV="1">
            <a:off x="3203562" y="2944991"/>
            <a:ext cx="835587" cy="59538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0" name="直線單箭頭接點 106"/>
          <p:cNvCxnSpPr>
            <a:stCxn id="180" idx="3"/>
            <a:endCxn id="185" idx="2"/>
          </p:cNvCxnSpPr>
          <p:nvPr/>
        </p:nvCxnSpPr>
        <p:spPr>
          <a:xfrm>
            <a:off x="3170224" y="3563695"/>
            <a:ext cx="871267" cy="15986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1" name="直線單箭頭接點 107"/>
          <p:cNvCxnSpPr>
            <a:stCxn id="180" idx="3"/>
            <a:endCxn id="186" idx="2"/>
          </p:cNvCxnSpPr>
          <p:nvPr/>
        </p:nvCxnSpPr>
        <p:spPr>
          <a:xfrm>
            <a:off x="3170223" y="3563695"/>
            <a:ext cx="859634" cy="138787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2" name="直線單箭頭接點 108"/>
          <p:cNvCxnSpPr>
            <a:endCxn id="184" idx="2"/>
          </p:cNvCxnSpPr>
          <p:nvPr/>
        </p:nvCxnSpPr>
        <p:spPr>
          <a:xfrm flipV="1">
            <a:off x="3241720" y="2944992"/>
            <a:ext cx="797428" cy="199323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3" name="直線單箭頭接點 109"/>
          <p:cNvCxnSpPr>
            <a:endCxn id="185" idx="2"/>
          </p:cNvCxnSpPr>
          <p:nvPr/>
        </p:nvCxnSpPr>
        <p:spPr>
          <a:xfrm flipV="1">
            <a:off x="3215352" y="3723561"/>
            <a:ext cx="826139" cy="12146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" name="直線單箭頭接點 110"/>
          <p:cNvCxnSpPr>
            <a:endCxn id="186" idx="2"/>
          </p:cNvCxnSpPr>
          <p:nvPr/>
        </p:nvCxnSpPr>
        <p:spPr>
          <a:xfrm>
            <a:off x="3215351" y="4938167"/>
            <a:ext cx="814506" cy="134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29" name="群組 115"/>
          <p:cNvGrpSpPr/>
          <p:nvPr/>
        </p:nvGrpSpPr>
        <p:grpSpPr>
          <a:xfrm>
            <a:off x="6794568" y="2937853"/>
            <a:ext cx="753037" cy="2013721"/>
            <a:chOff x="5357094" y="2515814"/>
            <a:chExt cx="753037" cy="2013721"/>
          </a:xfrm>
        </p:grpSpPr>
        <p:cxnSp>
          <p:nvCxnSpPr>
            <p:cNvPr id="230" name="直線單箭頭接點 11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1" name="直線單箭頭接點 117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2" name="直線單箭頭接點 118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3" name="直線單箭頭接點 119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4" name="直線單箭頭接點 120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5" name="直線單箭頭接點 121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6" name="直線單箭頭接點 122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7" name="直線單箭頭接點 123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8" name="直線單箭頭接點 124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aphicFrame>
        <p:nvGraphicFramePr>
          <p:cNvPr id="2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429037"/>
              </p:ext>
            </p:extLst>
          </p:nvPr>
        </p:nvGraphicFramePr>
        <p:xfrm>
          <a:off x="6488110" y="4410573"/>
          <a:ext cx="4333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3040" imgH="215640" progId="Equation.3">
                  <p:embed/>
                </p:oleObj>
              </mc:Choice>
              <mc:Fallback>
                <p:oleObj name="方程式" r:id="rId3" imgW="203040" imgH="215640" progId="Equation.3">
                  <p:embed/>
                  <p:pic>
                    <p:nvPicPr>
                      <p:cNvPr id="1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0" y="4410573"/>
                        <a:ext cx="433387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" name="文字方塊 129"/>
          <p:cNvSpPr txBox="1"/>
          <p:nvPr/>
        </p:nvSpPr>
        <p:spPr>
          <a:xfrm>
            <a:off x="7125078" y="5348860"/>
            <a:ext cx="141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输出层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1" name="文字方塊 130"/>
          <p:cNvSpPr txBox="1"/>
          <p:nvPr/>
        </p:nvSpPr>
        <p:spPr>
          <a:xfrm>
            <a:off x="4310173" y="5661212"/>
            <a:ext cx="206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隐藏层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2" name="右大括弧 131"/>
          <p:cNvSpPr/>
          <p:nvPr/>
        </p:nvSpPr>
        <p:spPr>
          <a:xfrm rot="5400000">
            <a:off x="5271093" y="4013939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3" name="文字方塊 132"/>
          <p:cNvSpPr txBox="1"/>
          <p:nvPr/>
        </p:nvSpPr>
        <p:spPr>
          <a:xfrm>
            <a:off x="2319350" y="5220334"/>
            <a:ext cx="134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输入层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2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563131"/>
              </p:ext>
            </p:extLst>
          </p:nvPr>
        </p:nvGraphicFramePr>
        <p:xfrm>
          <a:off x="2319350" y="3693983"/>
          <a:ext cx="434940" cy="478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26720" imgH="139680" progId="Equation.3">
                  <p:embed/>
                </p:oleObj>
              </mc:Choice>
              <mc:Fallback>
                <p:oleObj name="方程式" r:id="rId5" imgW="126720" imgH="139680" progId="Equation.3">
                  <p:embed/>
                  <p:pic>
                    <p:nvPicPr>
                      <p:cNvPr id="13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50" y="3693983"/>
                        <a:ext cx="434940" cy="478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118415"/>
              </p:ext>
            </p:extLst>
          </p:nvPr>
        </p:nvGraphicFramePr>
        <p:xfrm>
          <a:off x="6544102" y="247588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52280" imgH="215640" progId="Equation.3">
                  <p:embed/>
                </p:oleObj>
              </mc:Choice>
              <mc:Fallback>
                <p:oleObj name="方程式" r:id="rId7" imgW="152280" imgH="215640" progId="Equation.3">
                  <p:embed/>
                  <p:pic>
                    <p:nvPicPr>
                      <p:cNvPr id="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102" y="247588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173797"/>
              </p:ext>
            </p:extLst>
          </p:nvPr>
        </p:nvGraphicFramePr>
        <p:xfrm>
          <a:off x="6523641" y="322879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1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641" y="322879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" name="矩形 246"/>
          <p:cNvSpPr/>
          <p:nvPr/>
        </p:nvSpPr>
        <p:spPr>
          <a:xfrm>
            <a:off x="3815951" y="2576667"/>
            <a:ext cx="2693027" cy="274611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48" name="文字方塊 135"/>
          <p:cNvSpPr txBox="1"/>
          <p:nvPr/>
        </p:nvSpPr>
        <p:spPr>
          <a:xfrm>
            <a:off x="3730736" y="1965797"/>
            <a:ext cx="37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特征</a:t>
            </a:r>
            <a:r>
              <a:rPr lang="zh-CN" altLang="en-US" sz="2400" b="1" kern="0" dirty="0">
                <a:solidFill>
                  <a:prstClr val="black"/>
                </a:solidFill>
              </a:rPr>
              <a:t>提取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9" name="文字方塊 136"/>
          <p:cNvSpPr txBox="1"/>
          <p:nvPr/>
        </p:nvSpPr>
        <p:spPr>
          <a:xfrm>
            <a:off x="8433400" y="5344177"/>
            <a:ext cx="1857408" cy="461665"/>
          </a:xfrm>
          <a:prstGeom prst="rect">
            <a:avLst/>
          </a:prstGeom>
          <a:gradFill rotWithShape="1">
            <a:gsLst>
              <a:gs pos="0">
                <a:srgbClr val="FFC000">
                  <a:lumMod val="110000"/>
                  <a:satMod val="105000"/>
                  <a:tint val="67000"/>
                </a:srgbClr>
              </a:gs>
              <a:gs pos="50000">
                <a:srgbClr val="FFC000">
                  <a:lumMod val="105000"/>
                  <a:satMod val="103000"/>
                  <a:tint val="73000"/>
                </a:srgbClr>
              </a:gs>
              <a:gs pos="100000">
                <a:srgbClr val="FFC00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=</a:t>
            </a: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rPr>
              <a:t>多分类器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7562847" y="2610469"/>
            <a:ext cx="737236" cy="2683974"/>
          </a:xfrm>
          <a:prstGeom prst="rect">
            <a:avLst/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1" name="文字方塊 138"/>
          <p:cNvSpPr txBox="1"/>
          <p:nvPr/>
        </p:nvSpPr>
        <p:spPr>
          <a:xfrm rot="5400000">
            <a:off x="7140881" y="3720141"/>
            <a:ext cx="1510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Softmax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3" name="手繪多邊形 105"/>
          <p:cNvSpPr/>
          <p:nvPr/>
        </p:nvSpPr>
        <p:spPr>
          <a:xfrm>
            <a:off x="4107169" y="2739485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4" name="手繪多邊形 105"/>
          <p:cNvSpPr/>
          <p:nvPr/>
        </p:nvSpPr>
        <p:spPr>
          <a:xfrm>
            <a:off x="4104541" y="356258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5" name="手繪多邊形 105"/>
          <p:cNvSpPr/>
          <p:nvPr/>
        </p:nvSpPr>
        <p:spPr>
          <a:xfrm>
            <a:off x="4104541" y="4811705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6" name="手繪多邊形 105"/>
          <p:cNvSpPr/>
          <p:nvPr/>
        </p:nvSpPr>
        <p:spPr>
          <a:xfrm>
            <a:off x="6124403" y="2782946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7" name="手繪多邊形 105"/>
          <p:cNvSpPr/>
          <p:nvPr/>
        </p:nvSpPr>
        <p:spPr>
          <a:xfrm>
            <a:off x="6152883" y="3571675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258" name="手繪多邊形 105"/>
          <p:cNvSpPr/>
          <p:nvPr/>
        </p:nvSpPr>
        <p:spPr>
          <a:xfrm>
            <a:off x="6159801" y="479809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8920578" y="2525051"/>
            <a:ext cx="659931" cy="2746111"/>
            <a:chOff x="8704167" y="1364264"/>
            <a:chExt cx="659931" cy="2746111"/>
          </a:xfrm>
        </p:grpSpPr>
        <p:sp>
          <p:nvSpPr>
            <p:cNvPr id="90" name="矩形 89"/>
            <p:cNvSpPr/>
            <p:nvPr/>
          </p:nvSpPr>
          <p:spPr>
            <a:xfrm>
              <a:off x="8704167" y="1386925"/>
              <a:ext cx="523389" cy="27234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91" name="文字方塊 135"/>
            <p:cNvSpPr txBox="1"/>
            <p:nvPr/>
          </p:nvSpPr>
          <p:spPr>
            <a:xfrm rot="5400000">
              <a:off x="8646357" y="288308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……</a:t>
              </a:r>
              <a:endParaRPr kumimoji="0" lang="zh-TW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136"/>
                <p:cNvSpPr txBox="1"/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1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2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450" y="1364264"/>
                  <a:ext cx="631069" cy="513282"/>
                </a:xfrm>
                <a:prstGeom prst="rect">
                  <a:avLst/>
                </a:prstGeom>
                <a:blipFill>
                  <a:blip r:embed="rId12"/>
                  <a:stretch>
                    <a:fillRect b="-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136"/>
                <p:cNvSpPr txBox="1"/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2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3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3029" y="2120750"/>
                  <a:ext cx="631069" cy="513282"/>
                </a:xfrm>
                <a:prstGeom prst="rect">
                  <a:avLst/>
                </a:prstGeom>
                <a:blipFill>
                  <a:blip r:embed="rId13"/>
                  <a:stretch>
                    <a:fillRect b="-305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136"/>
                <p:cNvSpPr txBox="1"/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457200"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altLang="zh-TW" sz="28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altLang="zh-TW" sz="28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M</a:t>
                  </a:r>
                  <a:endParaRPr kumimoji="0" lang="zh-TW" altLang="en-US" sz="28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4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4467" y="3430128"/>
                  <a:ext cx="631069" cy="513282"/>
                </a:xfrm>
                <a:prstGeom prst="rect">
                  <a:avLst/>
                </a:prstGeom>
                <a:blipFill>
                  <a:blip r:embed="rId14"/>
                  <a:stretch>
                    <a:fillRect r="-2913" b="-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0" name="TextBox 25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4/35</a:t>
            </a:r>
          </a:p>
        </p:txBody>
      </p:sp>
    </p:spTree>
    <p:extLst>
      <p:ext uri="{BB962C8B-B14F-4D97-AF65-F5344CB8AC3E}">
        <p14:creationId xmlns:p14="http://schemas.microsoft.com/office/powerpoint/2010/main" val="291967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animBg="1"/>
      <p:bldP spid="248" grpId="0"/>
      <p:bldP spid="249" grpId="0" animBg="1"/>
      <p:bldP spid="250" grpId="0" animBg="1"/>
      <p:bldP spid="2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Sign Language MNIST 数据集</a:t>
            </a:r>
          </a:p>
        </p:txBody>
      </p:sp>
      <p:pic>
        <p:nvPicPr>
          <p:cNvPr id="27" name="Picture 26" descr="dataset_exampl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0352" y="1888236"/>
            <a:ext cx="6035040" cy="402335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0" y="1810512"/>
            <a:ext cx="4663440" cy="16459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28×28 灰度图，24 类静态字母。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不含需运动表达的 J、Z。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加载器将原始标签映射为 0–23。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784848" y="36576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用途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图片数量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训练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24,709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验证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2,746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官方测试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7,172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85216" y="6080760"/>
            <a:ext cx="10881360" cy="329184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07517D"/>
                </a:solidFill>
                <a:latin typeface="Calibri"/>
                <a:ea typeface="微软雅黑"/>
              </a:rPr>
              <a:t>来源：Kaggle / datamunge / sign-language-mnist；验证集从官方 train 分层抽取，split-seed=42。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5/35</a:t>
            </a:r>
          </a:p>
        </p:txBody>
      </p:sp>
    </p:spTree>
    <p:extLst>
      <p:ext uri="{BB962C8B-B14F-4D97-AF65-F5344CB8AC3E}">
        <p14:creationId xmlns:p14="http://schemas.microsoft.com/office/powerpoint/2010/main" val="376770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从图片到类别：输入与输出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1874519"/>
            <a:ext cx="402336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Input：静态手势 A</a:t>
            </a:r>
          </a:p>
        </p:txBody>
      </p:sp>
      <p:pic>
        <p:nvPicPr>
          <p:cNvPr id="28" name="Picture 27" descr="sample_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0704" y="2468880"/>
            <a:ext cx="2468880" cy="2468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5148072"/>
            <a:ext cx="3749039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151515"/>
                </a:solidFill>
                <a:latin typeface="Calibri"/>
                <a:ea typeface="微软雅黑"/>
              </a:rPr>
              <a:t>28×28 → 784 个像素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151515"/>
                </a:solidFill>
                <a:latin typeface="Calibri"/>
                <a:ea typeface="微软雅黑"/>
              </a:rPr>
              <a:t>归一化：pixel / 255 − 0.5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22191" y="3657600"/>
            <a:ext cx="1252729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239512" y="2971800"/>
            <a:ext cx="1828800" cy="1371600"/>
          </a:xfrm>
          <a:prstGeom prst="rect">
            <a:avLst/>
          </a:prstGeom>
          <a:solidFill>
            <a:srgbClr val="DC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58384" y="3063240"/>
            <a:ext cx="1591056" cy="12344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0">
                <a:solidFill>
                  <a:srgbClr val="151515"/>
                </a:solidFill>
                <a:latin typeface="Calibri"/>
                <a:ea typeface="微软雅黑"/>
              </a:rPr>
              <a:t>全连接网络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0">
                <a:solidFill>
                  <a:srgbClr val="151515"/>
                </a:solidFill>
                <a:latin typeface="Calibri"/>
                <a:ea typeface="微软雅黑"/>
              </a:rPr>
              <a:t>Softmax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69480" y="3657600"/>
            <a:ext cx="960120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83879" y="1901952"/>
            <a:ext cx="347472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Output：24 类概率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412480" y="2606040"/>
          <a:ext cx="3017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字母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示意概率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A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0.70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B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0.10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…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…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Y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0.01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138160" y="5422392"/>
            <a:ext cx="347472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D62728"/>
                </a:solidFill>
                <a:latin typeface="Calibri"/>
                <a:ea typeface="微软雅黑"/>
              </a:rPr>
              <a:t>取最大概率对应的类别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6/35</a:t>
            </a:r>
          </a:p>
        </p:txBody>
      </p:sp>
    </p:spTree>
    <p:extLst>
      <p:ext uri="{BB962C8B-B14F-4D97-AF65-F5344CB8AC3E}">
        <p14:creationId xmlns:p14="http://schemas.microsoft.com/office/powerpoint/2010/main" val="11378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基础网络：784 → 64 →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1828800"/>
            <a:ext cx="182880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1">
                <a:solidFill>
                  <a:srgbClr val="07517D"/>
                </a:solidFill>
                <a:latin typeface="Calibri"/>
                <a:ea typeface="微软雅黑"/>
              </a:rPr>
              <a:t>输入层 784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1828800"/>
            <a:ext cx="182880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1">
                <a:solidFill>
                  <a:srgbClr val="07517D"/>
                </a:solidFill>
                <a:latin typeface="Calibri"/>
                <a:ea typeface="微软雅黑"/>
              </a:rPr>
              <a:t>隐藏层 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828800"/>
            <a:ext cx="182880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1">
                <a:solidFill>
                  <a:srgbClr val="07517D"/>
                </a:solidFill>
                <a:latin typeface="Calibri"/>
                <a:ea typeface="微软雅黑"/>
              </a:rPr>
              <a:t>输出层 24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51176" y="2889504"/>
            <a:ext cx="361188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51176" y="2889504"/>
            <a:ext cx="3611880" cy="91440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51176" y="2889504"/>
            <a:ext cx="3611880" cy="23134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551176" y="2889504"/>
            <a:ext cx="3611880" cy="91440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51176" y="3803904"/>
            <a:ext cx="361188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51176" y="3803904"/>
            <a:ext cx="3611880" cy="13990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51176" y="2889504"/>
            <a:ext cx="3611880" cy="23134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51176" y="3803904"/>
            <a:ext cx="3611880" cy="13990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551176" y="5202936"/>
            <a:ext cx="361188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63056" y="2889504"/>
            <a:ext cx="365760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63056" y="2889504"/>
            <a:ext cx="3657600" cy="91440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63056" y="2889504"/>
            <a:ext cx="3657600" cy="23134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63056" y="2889504"/>
            <a:ext cx="3657600" cy="91440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63056" y="3803904"/>
            <a:ext cx="365760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63056" y="3803904"/>
            <a:ext cx="3657600" cy="13990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163056" y="2889504"/>
            <a:ext cx="3657600" cy="23134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163056" y="3803904"/>
            <a:ext cx="3657600" cy="1399032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63056" y="5202936"/>
            <a:ext cx="3657600" cy="0"/>
          </a:xfrm>
          <a:prstGeom prst="line">
            <a:avLst/>
          </a:prstGeom>
          <a:ln w="10160">
            <a:solidFill>
              <a:srgbClr val="C0C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011680" y="2423160"/>
            <a:ext cx="640080" cy="640080"/>
          </a:xfrm>
          <a:prstGeom prst="ellipse">
            <a:avLst/>
          </a:prstGeom>
          <a:solidFill>
            <a:srgbClr val="FFF0BC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1680" y="25146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50" name="Oval 49"/>
          <p:cNvSpPr/>
          <p:nvPr/>
        </p:nvSpPr>
        <p:spPr>
          <a:xfrm>
            <a:off x="2011680" y="3337560"/>
            <a:ext cx="640080" cy="640080"/>
          </a:xfrm>
          <a:prstGeom prst="ellipse">
            <a:avLst/>
          </a:prstGeom>
          <a:solidFill>
            <a:srgbClr val="FFF0BC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11680" y="34290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4251960"/>
            <a:ext cx="64008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151515"/>
                </a:solidFill>
                <a:latin typeface="Calibri"/>
                <a:ea typeface="微软雅黑"/>
              </a:rPr>
              <a:t>⋮</a:t>
            </a:r>
          </a:p>
        </p:txBody>
      </p:sp>
      <p:sp>
        <p:nvSpPr>
          <p:cNvPr id="53" name="Oval 52"/>
          <p:cNvSpPr/>
          <p:nvPr/>
        </p:nvSpPr>
        <p:spPr>
          <a:xfrm>
            <a:off x="2011680" y="4754880"/>
            <a:ext cx="640080" cy="640080"/>
          </a:xfrm>
          <a:prstGeom prst="ellipse">
            <a:avLst/>
          </a:prstGeom>
          <a:solidFill>
            <a:srgbClr val="FFF0BC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11680" y="484632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784</a:t>
            </a:r>
          </a:p>
        </p:txBody>
      </p:sp>
      <p:sp>
        <p:nvSpPr>
          <p:cNvPr id="55" name="Oval 54"/>
          <p:cNvSpPr/>
          <p:nvPr/>
        </p:nvSpPr>
        <p:spPr>
          <a:xfrm>
            <a:off x="5623560" y="2423160"/>
            <a:ext cx="640080" cy="640080"/>
          </a:xfrm>
          <a:prstGeom prst="ellipse">
            <a:avLst/>
          </a:prstGeom>
          <a:solidFill>
            <a:srgbClr val="DCEAD5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23560" y="25146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57" name="Oval 56"/>
          <p:cNvSpPr/>
          <p:nvPr/>
        </p:nvSpPr>
        <p:spPr>
          <a:xfrm>
            <a:off x="5623560" y="3337560"/>
            <a:ext cx="640080" cy="640080"/>
          </a:xfrm>
          <a:prstGeom prst="ellipse">
            <a:avLst/>
          </a:prstGeom>
          <a:solidFill>
            <a:srgbClr val="DCEAD5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23560" y="34290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4251960"/>
            <a:ext cx="64008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151515"/>
                </a:solidFill>
                <a:latin typeface="Calibri"/>
                <a:ea typeface="微软雅黑"/>
              </a:rPr>
              <a:t>⋮</a:t>
            </a:r>
          </a:p>
        </p:txBody>
      </p:sp>
      <p:sp>
        <p:nvSpPr>
          <p:cNvPr id="60" name="Oval 59"/>
          <p:cNvSpPr/>
          <p:nvPr/>
        </p:nvSpPr>
        <p:spPr>
          <a:xfrm>
            <a:off x="5623560" y="4754880"/>
            <a:ext cx="640080" cy="640080"/>
          </a:xfrm>
          <a:prstGeom prst="ellipse">
            <a:avLst/>
          </a:prstGeom>
          <a:solidFill>
            <a:srgbClr val="DCEAD5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23560" y="484632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64</a:t>
            </a:r>
          </a:p>
        </p:txBody>
      </p:sp>
      <p:sp>
        <p:nvSpPr>
          <p:cNvPr id="62" name="Oval 61"/>
          <p:cNvSpPr/>
          <p:nvPr/>
        </p:nvSpPr>
        <p:spPr>
          <a:xfrm>
            <a:off x="9281160" y="2423160"/>
            <a:ext cx="640080" cy="640080"/>
          </a:xfrm>
          <a:prstGeom prst="ellipse">
            <a:avLst/>
          </a:prstGeom>
          <a:solidFill>
            <a:srgbClr val="CADCF1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81160" y="25146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64" name="Oval 63"/>
          <p:cNvSpPr/>
          <p:nvPr/>
        </p:nvSpPr>
        <p:spPr>
          <a:xfrm>
            <a:off x="9281160" y="3337560"/>
            <a:ext cx="640080" cy="640080"/>
          </a:xfrm>
          <a:prstGeom prst="ellipse">
            <a:avLst/>
          </a:prstGeom>
          <a:solidFill>
            <a:srgbClr val="CADCF1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81160" y="342900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4251960"/>
            <a:ext cx="64008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151515"/>
                </a:solidFill>
                <a:latin typeface="Calibri"/>
                <a:ea typeface="微软雅黑"/>
              </a:rPr>
              <a:t>⋮</a:t>
            </a:r>
          </a:p>
        </p:txBody>
      </p:sp>
      <p:sp>
        <p:nvSpPr>
          <p:cNvPr id="67" name="Oval 66"/>
          <p:cNvSpPr/>
          <p:nvPr/>
        </p:nvSpPr>
        <p:spPr>
          <a:xfrm>
            <a:off x="9281160" y="4754880"/>
            <a:ext cx="640080" cy="640080"/>
          </a:xfrm>
          <a:prstGeom prst="ellipse">
            <a:avLst/>
          </a:prstGeom>
          <a:solidFill>
            <a:srgbClr val="CADCF1"/>
          </a:solidFill>
          <a:ln>
            <a:solidFill>
              <a:srgbClr val="075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81160" y="4846320"/>
            <a:ext cx="640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51515"/>
                </a:solidFill>
                <a:latin typeface="Calibri"/>
                <a:ea typeface="微软雅黑"/>
              </a:rPr>
              <a:t>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03908" y="5522976"/>
            <a:ext cx="356616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 dirty="0" err="1">
                <a:solidFill>
                  <a:srgbClr val="07517D"/>
                </a:solidFill>
                <a:latin typeface="Calibri"/>
                <a:ea typeface="微软雅黑"/>
              </a:rPr>
              <a:t>ReLU</a:t>
            </a:r>
            <a:r>
              <a:rPr sz="2100" b="1" dirty="0">
                <a:solidFill>
                  <a:srgbClr val="07517D"/>
                </a:solidFill>
                <a:latin typeface="Calibri"/>
                <a:ea typeface="微软雅黑"/>
              </a:rPr>
              <a:t> / Sigmoid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27852" y="5494958"/>
            <a:ext cx="201168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 dirty="0" err="1">
                <a:solidFill>
                  <a:srgbClr val="07517D"/>
                </a:solidFill>
                <a:latin typeface="Calibri"/>
                <a:ea typeface="微软雅黑"/>
              </a:rPr>
              <a:t>Softmax</a:t>
            </a:r>
            <a:endParaRPr sz="2200" b="1" dirty="0">
              <a:solidFill>
                <a:srgbClr val="07517D"/>
              </a:solidFill>
              <a:latin typeface="Calibri"/>
              <a:ea typeface="微软雅黑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" y="6099048"/>
            <a:ext cx="10927080" cy="3200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D62728"/>
                </a:solidFill>
                <a:latin typeface="Calibri"/>
                <a:ea typeface="微软雅黑"/>
              </a:rPr>
              <a:t>批量形状：X[m,784]；W₁[784,64]；W₂[64,24]；输出 P[m,24]。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7/35</a:t>
            </a:r>
          </a:p>
        </p:txBody>
      </p:sp>
    </p:spTree>
    <p:extLst>
      <p:ext uri="{BB962C8B-B14F-4D97-AF65-F5344CB8AC3E}">
        <p14:creationId xmlns:p14="http://schemas.microsoft.com/office/powerpoint/2010/main" val="133592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Cross-Entropy 损失函数</a:t>
            </a:r>
          </a:p>
        </p:txBody>
      </p:sp>
      <p:pic>
        <p:nvPicPr>
          <p:cNvPr id="27" name="Picture 26" descr="sample_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1520" y="2194560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7512" y="3776472"/>
            <a:ext cx="1920240" cy="5486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真实标签：A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2953512"/>
            <a:ext cx="868680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91840" y="2414016"/>
            <a:ext cx="2148840" cy="1188720"/>
          </a:xfrm>
          <a:prstGeom prst="rect">
            <a:avLst/>
          </a:prstGeom>
          <a:solidFill>
            <a:srgbClr val="DC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2505456"/>
            <a:ext cx="1911095" cy="105156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151515"/>
                </a:solidFill>
                <a:latin typeface="Calibri"/>
                <a:ea typeface="微软雅黑"/>
              </a:rPr>
              <a:t>网络输出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151515"/>
                </a:solidFill>
                <a:latin typeface="Calibri"/>
                <a:ea typeface="微软雅黑"/>
              </a:rPr>
              <a:t>24 类概率 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32704" y="2953512"/>
            <a:ext cx="859536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693408" y="2103120"/>
            <a:ext cx="4343400" cy="18288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2331720"/>
            <a:ext cx="4105656" cy="16916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 dirty="0" err="1">
                <a:solidFill>
                  <a:srgbClr val="151515"/>
                </a:solidFill>
                <a:latin typeface="Calibri"/>
                <a:ea typeface="微软雅黑"/>
              </a:rPr>
              <a:t>比较预测概率与真实标签</a:t>
            </a:r>
            <a:endParaRPr sz="2300" b="0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 dirty="0" err="1">
                <a:solidFill>
                  <a:srgbClr val="151515"/>
                </a:solidFill>
                <a:latin typeface="Calibri"/>
                <a:ea typeface="微软雅黑"/>
              </a:rPr>
              <a:t>真实类别</a:t>
            </a:r>
            <a:r>
              <a:rPr sz="2300" b="0" dirty="0">
                <a:solidFill>
                  <a:srgbClr val="151515"/>
                </a:solidFill>
                <a:latin typeface="Calibri"/>
                <a:ea typeface="微软雅黑"/>
              </a:rPr>
              <a:t> A </a:t>
            </a:r>
            <a:r>
              <a:rPr sz="2300" b="0" dirty="0" err="1">
                <a:solidFill>
                  <a:srgbClr val="151515"/>
                </a:solidFill>
                <a:latin typeface="Calibri"/>
                <a:ea typeface="微软雅黑"/>
              </a:rPr>
              <a:t>的概率越高</a:t>
            </a:r>
            <a:r>
              <a:rPr sz="2300" b="0" dirty="0">
                <a:solidFill>
                  <a:srgbClr val="151515"/>
                </a:solidFill>
                <a:latin typeface="Calibri"/>
                <a:ea typeface="微软雅黑"/>
              </a:rPr>
              <a:t>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 dirty="0" err="1">
                <a:solidFill>
                  <a:srgbClr val="151515"/>
                </a:solidFill>
                <a:latin typeface="Calibri"/>
                <a:ea typeface="微软雅黑"/>
              </a:rPr>
              <a:t>该样本的交叉熵越小</a:t>
            </a:r>
            <a:r>
              <a:rPr sz="2300" b="0" dirty="0">
                <a:solidFill>
                  <a:srgbClr val="151515"/>
                </a:solidFill>
                <a:latin typeface="Calibri"/>
                <a:ea typeface="微软雅黑"/>
              </a:rPr>
              <a:t>。</a:t>
            </a:r>
          </a:p>
        </p:txBody>
      </p:sp>
      <p:pic>
        <p:nvPicPr>
          <p:cNvPr id="35" name="Picture 34" descr="formula_los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32279" y="4434840"/>
            <a:ext cx="4588401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3232" y="5715000"/>
            <a:ext cx="10789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D62728"/>
                </a:solidFill>
                <a:latin typeface="Calibri"/>
                <a:ea typeface="微软雅黑"/>
              </a:rPr>
              <a:t>m 为当前批次大小；λ 为 L2 系数；偏置不做正则化。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D62728"/>
                </a:solidFill>
                <a:latin typeface="Calibri"/>
                <a:ea typeface="微软雅黑"/>
              </a:rPr>
              <a:t>代码用 logits 计算稳定交叉熵，避免直接 log(0)。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8/35</a:t>
            </a:r>
          </a:p>
        </p:txBody>
      </p:sp>
    </p:spTree>
    <p:extLst>
      <p:ext uri="{BB962C8B-B14F-4D97-AF65-F5344CB8AC3E}">
        <p14:creationId xmlns:p14="http://schemas.microsoft.com/office/powerpoint/2010/main" val="357485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背景介绍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反向传播：与批量矩阵代码对应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1883664"/>
            <a:ext cx="214884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输出层误差</a:t>
            </a:r>
          </a:p>
        </p:txBody>
      </p:sp>
      <p:pic>
        <p:nvPicPr>
          <p:cNvPr id="28" name="Picture 27" descr="formula_bp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3824" y="1810512"/>
            <a:ext cx="3411854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17520" y="2341253"/>
            <a:ext cx="8046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 dirty="0" err="1">
                <a:solidFill>
                  <a:srgbClr val="666666"/>
                </a:solidFill>
                <a:latin typeface="Calibri"/>
                <a:ea typeface="微软雅黑"/>
              </a:rPr>
              <a:t>对应</a:t>
            </a:r>
            <a:r>
              <a:rPr sz="1500" b="0" dirty="0">
                <a:solidFill>
                  <a:srgbClr val="666666"/>
                </a:solidFill>
                <a:latin typeface="Calibri"/>
                <a:ea typeface="微软雅黑"/>
              </a:rPr>
              <a:t> TODO 3：此处只平均一次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2935224"/>
            <a:ext cx="214884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权重梯度</a:t>
            </a:r>
          </a:p>
        </p:txBody>
      </p:sp>
      <p:pic>
        <p:nvPicPr>
          <p:cNvPr id="31" name="Picture 30" descr="formula_bp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82249" y="2862072"/>
            <a:ext cx="5755004" cy="640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17520" y="3529584"/>
            <a:ext cx="8046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Calibri"/>
                <a:ea typeface="微软雅黑"/>
              </a:rPr>
              <a:t>对应 TODO 4：包含 L2 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986783"/>
            <a:ext cx="214884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偏置梯度</a:t>
            </a:r>
          </a:p>
        </p:txBody>
      </p:sp>
      <p:pic>
        <p:nvPicPr>
          <p:cNvPr id="34" name="Picture 33" descr="formula_bp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48157" y="3913631"/>
            <a:ext cx="2039593" cy="8042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017520" y="4581144"/>
            <a:ext cx="8046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Calibri"/>
                <a:ea typeface="微软雅黑"/>
              </a:rPr>
              <a:t>对应 TODO 5：沿样本维求和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038344"/>
            <a:ext cx="214884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隐藏层误差</a:t>
            </a:r>
          </a:p>
        </p:txBody>
      </p:sp>
      <p:pic>
        <p:nvPicPr>
          <p:cNvPr id="37" name="Picture 36" descr="formula_bp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45039" y="4965192"/>
            <a:ext cx="6829424" cy="640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017520" y="5632704"/>
            <a:ext cx="8046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Calibri"/>
                <a:ea typeface="微软雅黑"/>
              </a:rPr>
              <a:t>对应 TODO 6：再乘激活函数导数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9/35</a:t>
            </a:r>
          </a:p>
        </p:txBody>
      </p:sp>
    </p:spTree>
    <p:extLst>
      <p:ext uri="{BB962C8B-B14F-4D97-AF65-F5344CB8AC3E}">
        <p14:creationId xmlns:p14="http://schemas.microsoft.com/office/powerpoint/2010/main" val="138894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实验环境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Python + NumPy：使用 CPU 即可完成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847088"/>
            <a:ext cx="5029200" cy="1920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151515"/>
                </a:solidFill>
                <a:latin typeface="Calibri"/>
                <a:ea typeface="微软雅黑"/>
              </a:rPr>
              <a:t>编程语言：Python 3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151515"/>
                </a:solidFill>
                <a:latin typeface="Calibri"/>
                <a:ea typeface="微软雅黑"/>
              </a:rPr>
              <a:t>编辑器：VS Code / PyCharm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151515"/>
                </a:solidFill>
                <a:latin typeface="Calibri"/>
                <a:ea typeface="微软雅黑"/>
              </a:rPr>
              <a:t>计算方式：CPU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151515"/>
                </a:solidFill>
                <a:latin typeface="Calibri"/>
                <a:ea typeface="微软雅黑"/>
              </a:rPr>
              <a:t>使用 NumPy 手写前向和反向传播。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69080"/>
            <a:ext cx="521208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安装依赖（同一解释器）：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63440"/>
            <a:ext cx="516636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" y="4841749"/>
            <a:ext cx="4928616" cy="521207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 dirty="0">
                <a:solidFill>
                  <a:srgbClr val="151515"/>
                </a:solidFill>
                <a:latin typeface="Calibri"/>
                <a:ea typeface="微软雅黑"/>
              </a:rPr>
              <a:t>python3 -m pip install -r </a:t>
            </a:r>
            <a:r>
              <a:rPr sz="1600" b="0" dirty="0" err="1">
                <a:solidFill>
                  <a:srgbClr val="151515"/>
                </a:solidFill>
                <a:latin typeface="Calibri"/>
                <a:ea typeface="微软雅黑"/>
              </a:rPr>
              <a:t>requirements.txt</a:t>
            </a:r>
            <a:endParaRPr sz="16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053328" y="1856231"/>
          <a:ext cx="53035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依赖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作用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NumPy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矩阵运算与随机数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pandas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读取 CSV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scikit-learn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分层划分与评价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Matplotlib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曲线与混淆矩阵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threadpoolctl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控制计算线程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58368" y="5925312"/>
            <a:ext cx="10698480" cy="43891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D62728"/>
                </a:solidFill>
                <a:latin typeface="Calibri"/>
                <a:ea typeface="微软雅黑"/>
              </a:rPr>
              <a:t>Windows 若使用 python 命令，将示例中的 python3 换为对应解释器即可。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10/35</a:t>
            </a:r>
          </a:p>
        </p:txBody>
      </p:sp>
    </p:spTree>
    <p:extLst>
      <p:ext uri="{BB962C8B-B14F-4D97-AF65-F5344CB8AC3E}">
        <p14:creationId xmlns:p14="http://schemas.microsoft.com/office/powerpoint/2010/main" val="80495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第三方库介绍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NumPy：图片形状与矩阵乘法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reshape：恢复与展平图片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@：批量线性变换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784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x.shape  # (128, 784)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images = x.reshape(-1, 28, 28)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images.shape  # (128, 28, 28)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X.shape  # (128, 784)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W.shape  # (784, 64)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b.shape  # (64,)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Z = X @ W + b  # (128, 64)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532120"/>
            <a:ext cx="1088136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每行是一张图片；权重的输入维与图片特征维相同，偏置沿样本维广播。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11/35</a:t>
            </a:r>
          </a:p>
        </p:txBody>
      </p:sp>
    </p:spTree>
    <p:extLst>
      <p:ext uri="{BB962C8B-B14F-4D97-AF65-F5344CB8AC3E}">
        <p14:creationId xmlns:p14="http://schemas.microsoft.com/office/powerpoint/2010/main" val="397031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第三方库介绍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NumPy：随机数与按维度汇总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固定种子，便于复现实验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axis：指定汇总的维度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784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rng = np.random.default_rng(42)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order = rng.permutation(10)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rng.integers(-2, 3, size=5)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a.shape  # (3, 4)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a.sum(axis=0).shape  # (4,)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a.mean(axis=1).shape  # (3,)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532120"/>
            <a:ext cx="1088136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axis=0 沿样本所在的行维度汇总；注意区分求和与平均，避免重复除以批次大小。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12/35</a:t>
            </a:r>
          </a:p>
        </p:txBody>
      </p:sp>
    </p:spTree>
    <p:extLst>
      <p:ext uri="{BB962C8B-B14F-4D97-AF65-F5344CB8AC3E}">
        <p14:creationId xmlns:p14="http://schemas.microsoft.com/office/powerpoint/2010/main" val="902817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第三方库介绍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NumPy：类别预测与广播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argmax：逐行选最大值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38528"/>
            <a:ext cx="5212080" cy="685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keepdims：保留广播维度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784" y="2871216"/>
            <a:ext cx="52120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2962656"/>
            <a:ext cx="4974336" cy="19476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scores = np.array([[.1,.7,.2],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                   [.8,.1,.1]])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scores.argmax(axis=1)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# array([1, 0])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108960"/>
            <a:ext cx="489204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z.shape  # (128, 24)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z.max(axis=1).shape  # (128,)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z.max(axis=1, keepdims=True).shape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51515"/>
                </a:solidFill>
                <a:latin typeface="Courier New"/>
                <a:ea typeface="微软雅黑"/>
              </a:rPr>
              <a:t># (128, 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532120"/>
            <a:ext cx="1088136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Softmax 按每行计算；保留维度可以避免批量运算中错误的广播。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13/35</a:t>
            </a:r>
          </a:p>
        </p:txBody>
      </p:sp>
    </p:spTree>
    <p:extLst>
      <p:ext uri="{BB962C8B-B14F-4D97-AF65-F5344CB8AC3E}">
        <p14:creationId xmlns:p14="http://schemas.microsoft.com/office/powerpoint/2010/main" val="57367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第三方库介绍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Matplotlib：训练曲线与结果可视化</a:t>
            </a:r>
          </a:p>
        </p:txBody>
      </p:sp>
      <p:pic>
        <p:nvPicPr>
          <p:cNvPr id="27" name="Picture 26" descr="baseline_curv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4424" y="1810512"/>
            <a:ext cx="9932670" cy="3611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" y="5577840"/>
            <a:ext cx="1078992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绘图代码已提供。观察训练／验证损失和准确率，并结合测试混淆矩阵分析错误。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曲线横轴是训练轮数；测试集只在最终评价时使用。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14/35</a:t>
            </a:r>
          </a:p>
        </p:txBody>
      </p:sp>
    </p:spTree>
    <p:extLst>
      <p:ext uri="{BB962C8B-B14F-4D97-AF65-F5344CB8AC3E}">
        <p14:creationId xmlns:p14="http://schemas.microsoft.com/office/powerpoint/2010/main" val="387921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整体流程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从补全核心代码到比较实验结果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2606040"/>
            <a:ext cx="2011680" cy="1463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2770632"/>
            <a:ext cx="1773936" cy="1325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① </a:t>
            </a: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读取</a:t>
            </a: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 CSV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固定训练／验证划分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651760" y="3337560"/>
            <a:ext cx="210312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889504" y="2606040"/>
            <a:ext cx="2011680" cy="1463040"/>
          </a:xfrm>
          <a:prstGeom prst="rect">
            <a:avLst/>
          </a:prstGeom>
          <a:solidFill>
            <a:srgbClr val="E5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31483" y="2759264"/>
            <a:ext cx="1773936" cy="1325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② </a:t>
            </a: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初始化网络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设置学习率等参数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4919472" y="3337560"/>
            <a:ext cx="210312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57216" y="2606040"/>
            <a:ext cx="2011680" cy="1463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87641" y="2743200"/>
            <a:ext cx="1773936" cy="1325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③ </a:t>
            </a: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迭代小批量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前向、反向、更新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187183" y="3337560"/>
            <a:ext cx="210313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424927" y="2606040"/>
            <a:ext cx="2011680" cy="1463040"/>
          </a:xfrm>
          <a:prstGeom prst="rect">
            <a:avLst/>
          </a:prstGeom>
          <a:solidFill>
            <a:srgbClr val="E5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56391" y="2766060"/>
            <a:ext cx="1773936" cy="1325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④ </a:t>
            </a: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验证集选轮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保存最佳参数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54896" y="3337560"/>
            <a:ext cx="210312" cy="0"/>
          </a:xfrm>
          <a:prstGeom prst="line">
            <a:avLst/>
          </a:prstGeom>
          <a:ln w="25400">
            <a:solidFill>
              <a:srgbClr val="0751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692640" y="2606040"/>
            <a:ext cx="2011680" cy="1463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11512" y="2759264"/>
            <a:ext cx="1773936" cy="1325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51515"/>
                </a:solidFill>
                <a:latin typeface="Calibri"/>
                <a:ea typeface="微软雅黑"/>
              </a:rPr>
              <a:t>⑤ </a:t>
            </a: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最终测试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 dirty="0" err="1">
                <a:solidFill>
                  <a:srgbClr val="151515"/>
                </a:solidFill>
                <a:latin typeface="Calibri"/>
                <a:ea typeface="微软雅黑"/>
              </a:rPr>
              <a:t>曲线与错误分析</a:t>
            </a:r>
            <a:endParaRPr sz="20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5800" y="4700016"/>
            <a:ext cx="10789920" cy="11430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先完成 network.py 中的 7 处 TODO，调通无增强基线。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再做 L2、激活函数等对照；附加题完成后开启数据增强。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每次只改变一个主要因素，并保留实际运行参数。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15/35</a:t>
            </a:r>
          </a:p>
        </p:txBody>
      </p:sp>
    </p:spTree>
    <p:extLst>
      <p:ext uri="{BB962C8B-B14F-4D97-AF65-F5344CB8AC3E}">
        <p14:creationId xmlns:p14="http://schemas.microsoft.com/office/powerpoint/2010/main" val="180482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运行方式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四个代码文件 + data 文件夹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1828800"/>
            <a:ext cx="5166360" cy="4187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1920240"/>
            <a:ext cx="4928616" cy="4050791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Task1-静态手势分类/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main.py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network.py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sign_mnist_loader.py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augmentation.py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requirements.txt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data/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    sign_mnist_train.csv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        sign_mnist_test.csv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874519"/>
            <a:ext cx="4983480" cy="7315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1">
                <a:solidFill>
                  <a:srgbClr val="07517D"/>
                </a:solidFill>
                <a:latin typeface="Calibri"/>
                <a:ea typeface="微软雅黑"/>
              </a:rPr>
              <a:t>在实验目录中运行：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743200"/>
            <a:ext cx="5166360" cy="950976"/>
          </a:xfrm>
          <a:prstGeom prst="rect">
            <a:avLst/>
          </a:prstGeom>
          <a:solidFill>
            <a:srgbClr val="DC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2953511"/>
            <a:ext cx="4928616" cy="813816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0" dirty="0">
                <a:solidFill>
                  <a:srgbClr val="151515"/>
                </a:solidFill>
                <a:latin typeface="Calibri"/>
                <a:ea typeface="微软雅黑"/>
              </a:rPr>
              <a:t>python3 </a:t>
            </a:r>
            <a:r>
              <a:rPr sz="2600" b="0" dirty="0" err="1">
                <a:solidFill>
                  <a:srgbClr val="151515"/>
                </a:solidFill>
                <a:latin typeface="Calibri"/>
                <a:ea typeface="微软雅黑"/>
              </a:rPr>
              <a:t>main.py</a:t>
            </a:r>
            <a:endParaRPr sz="2600" b="0" dirty="0">
              <a:solidFill>
                <a:srgbClr val="151515"/>
              </a:solidFill>
              <a:latin typeface="Calibri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3977639"/>
            <a:ext cx="5312664" cy="18288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默认自动找到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 data/。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完成必做题后即可训练，增强默认关闭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每次运行自动建立独立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 output </a:t>
            </a: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子目录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未补全时出现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 TODO </a:t>
            </a:r>
            <a:r>
              <a:rPr sz="2200" b="0" dirty="0" err="1">
                <a:solidFill>
                  <a:srgbClr val="151515"/>
                </a:solidFill>
                <a:latin typeface="Calibri"/>
                <a:ea typeface="微软雅黑"/>
              </a:rPr>
              <a:t>提示属于预期</a:t>
            </a:r>
            <a:r>
              <a:rPr sz="2200" b="0" dirty="0">
                <a:solidFill>
                  <a:srgbClr val="151515"/>
                </a:solidFill>
                <a:latin typeface="Calibri"/>
                <a:ea typeface="微软雅黑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16/35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运行方式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命令行参数：只改变一个主要因素</a:t>
            </a:r>
          </a:p>
        </p:txBody>
      </p:sp>
      <p:pic>
        <p:nvPicPr>
          <p:cNvPr id="27" name="Picture 26" descr="args.png"/>
          <p:cNvPicPr>
            <a:picLocks noChangeAspect="1"/>
          </p:cNvPicPr>
          <p:nvPr/>
        </p:nvPicPr>
        <p:blipFill>
          <a:blip r:embed="rId3"/>
          <a:srcRect l="406" t="58957" r="46067" b="4195"/>
          <a:stretch>
            <a:fillRect/>
          </a:stretch>
        </p:blipFill>
        <p:spPr>
          <a:xfrm>
            <a:off x="603504" y="2642754"/>
            <a:ext cx="7315200" cy="18010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5320" y="1920240"/>
            <a:ext cx="3246120" cy="242316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默认配置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隐藏层：64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学习率：0.01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轮数：80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批次：128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1">
                <a:solidFill>
                  <a:srgbClr val="07517D"/>
                </a:solidFill>
                <a:latin typeface="Calibri"/>
                <a:ea typeface="微软雅黑"/>
              </a:rPr>
              <a:t>L2：0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17/35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数据读取：CSV → 图片矩阵与标签</a:t>
            </a:r>
          </a:p>
        </p:txBody>
      </p:sp>
      <p:pic>
        <p:nvPicPr>
          <p:cNvPr id="27" name="Picture 26" descr="csv.png"/>
          <p:cNvPicPr>
            <a:picLocks noChangeAspect="1"/>
          </p:cNvPicPr>
          <p:nvPr/>
        </p:nvPicPr>
        <p:blipFill>
          <a:blip r:embed="rId3"/>
          <a:srcRect l="810" r="46964" b="11684"/>
          <a:stretch>
            <a:fillRect/>
          </a:stretch>
        </p:blipFill>
        <p:spPr>
          <a:xfrm>
            <a:off x="1027419" y="1783080"/>
            <a:ext cx="10097537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35040"/>
            <a:ext cx="10927080" cy="3474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07517D"/>
                </a:solidFill>
                <a:latin typeface="Calibri"/>
                <a:ea typeface="微软雅黑"/>
              </a:rPr>
              <a:t>sign_mnist_loader.py 已完整提供；检查列名、缺失值和官方样本数量。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18/35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标签映射、分层划分与归一化</a:t>
            </a:r>
          </a:p>
        </p:txBody>
      </p:sp>
      <p:pic>
        <p:nvPicPr>
          <p:cNvPr id="27" name="Picture 26" descr="loader.png"/>
          <p:cNvPicPr>
            <a:picLocks noChangeAspect="1"/>
          </p:cNvPicPr>
          <p:nvPr/>
        </p:nvPicPr>
        <p:blipFill>
          <a:blip r:embed="rId3"/>
          <a:srcRect l="601" t="30479" r="47273" b="9853"/>
          <a:stretch>
            <a:fillRect/>
          </a:stretch>
        </p:blipFill>
        <p:spPr>
          <a:xfrm>
            <a:off x="594360" y="2040167"/>
            <a:ext cx="7315200" cy="364634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0" y="1965960"/>
            <a:ext cx="3291840" cy="32918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原始标签缺少 9、25。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映射为连续 0–23。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2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从官方 train 中按类别分层抽取验证集。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2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默认中心化到 [−0.5,0.5]。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9904"/>
            <a:ext cx="10881360" cy="310896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700" b="1" dirty="0" err="1">
                <a:solidFill>
                  <a:srgbClr val="D62728"/>
                </a:solidFill>
                <a:latin typeface="Calibri"/>
                <a:ea typeface="微软雅黑"/>
              </a:rPr>
              <a:t>两个</a:t>
            </a:r>
            <a:r>
              <a:rPr sz="1700" b="1" dirty="0">
                <a:solidFill>
                  <a:srgbClr val="D62728"/>
                </a:solidFill>
                <a:latin typeface="Calibri"/>
                <a:ea typeface="微软雅黑"/>
              </a:rPr>
              <a:t> CSV </a:t>
            </a:r>
            <a:r>
              <a:rPr sz="1700" b="1" dirty="0" err="1">
                <a:solidFill>
                  <a:srgbClr val="D62728"/>
                </a:solidFill>
                <a:latin typeface="Calibri"/>
                <a:ea typeface="微软雅黑"/>
              </a:rPr>
              <a:t>运行时得到</a:t>
            </a:r>
            <a:r>
              <a:rPr sz="1700" b="1" dirty="0">
                <a:solidFill>
                  <a:srgbClr val="D62728"/>
                </a:solidFill>
                <a:latin typeface="Calibri"/>
                <a:ea typeface="微软雅黑"/>
              </a:rPr>
              <a:t> </a:t>
            </a:r>
            <a:r>
              <a:rPr sz="1700" b="1" dirty="0" err="1">
                <a:solidFill>
                  <a:srgbClr val="D62728"/>
                </a:solidFill>
                <a:latin typeface="Calibri"/>
                <a:ea typeface="微软雅黑"/>
              </a:rPr>
              <a:t>train、validation、test</a:t>
            </a:r>
            <a:r>
              <a:rPr sz="1700" b="1" dirty="0">
                <a:solidFill>
                  <a:srgbClr val="D62728"/>
                </a:solidFill>
                <a:latin typeface="Calibri"/>
                <a:ea typeface="微软雅黑"/>
              </a:rPr>
              <a:t> </a:t>
            </a:r>
            <a:r>
              <a:rPr sz="1700" b="1" dirty="0" err="1">
                <a:solidFill>
                  <a:srgbClr val="D62728"/>
                </a:solidFill>
                <a:latin typeface="Calibri"/>
                <a:ea typeface="微软雅黑"/>
              </a:rPr>
              <a:t>三个</a:t>
            </a:r>
            <a:r>
              <a:rPr sz="1700" b="1" dirty="0">
                <a:solidFill>
                  <a:srgbClr val="D62728"/>
                </a:solidFill>
                <a:latin typeface="Calibri"/>
                <a:ea typeface="微软雅黑"/>
              </a:rPr>
              <a:t> </a:t>
            </a:r>
            <a:r>
              <a:rPr sz="1700" b="1" dirty="0" err="1">
                <a:solidFill>
                  <a:srgbClr val="D62728"/>
                </a:solidFill>
                <a:latin typeface="Calibri"/>
                <a:ea typeface="微软雅黑"/>
              </a:rPr>
              <a:t>Split；无需另建验证集</a:t>
            </a:r>
            <a:r>
              <a:rPr sz="1700" b="1" dirty="0">
                <a:solidFill>
                  <a:srgbClr val="D62728"/>
                </a:solidFill>
                <a:latin typeface="Calibri"/>
                <a:ea typeface="微软雅黑"/>
              </a:rPr>
              <a:t> CSV。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19/35</a:t>
            </a:r>
          </a:p>
        </p:txBody>
      </p:sp>
    </p:spTree>
    <p:extLst>
      <p:ext uri="{BB962C8B-B14F-4D97-AF65-F5344CB8AC3E}">
        <p14:creationId xmlns:p14="http://schemas.microsoft.com/office/powerpoint/2010/main" val="310294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Network 初始化：层大小、权重与偏置</a:t>
            </a:r>
          </a:p>
        </p:txBody>
      </p:sp>
      <p:pic>
        <p:nvPicPr>
          <p:cNvPr id="27" name="Picture 26" descr="init.png"/>
          <p:cNvPicPr>
            <a:picLocks noChangeAspect="1"/>
          </p:cNvPicPr>
          <p:nvPr/>
        </p:nvPicPr>
        <p:blipFill>
          <a:blip r:embed="rId3"/>
          <a:srcRect l="749" t="1061" r="13087" b="1326"/>
          <a:stretch>
            <a:fillRect/>
          </a:stretch>
        </p:blipFill>
        <p:spPr>
          <a:xfrm>
            <a:off x="1361313" y="1783080"/>
            <a:ext cx="9429750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35040"/>
            <a:ext cx="10927080" cy="3474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07517D"/>
                </a:solidFill>
                <a:latin typeface="Calibri"/>
                <a:ea typeface="微软雅黑"/>
              </a:rPr>
              <a:t>基础结构 sizes=(784,64,24)；随机种子固定，偏置初始化为 0。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20/35</a:t>
            </a:r>
          </a:p>
        </p:txBody>
      </p:sp>
    </p:spTree>
    <p:extLst>
      <p:ext uri="{BB962C8B-B14F-4D97-AF65-F5344CB8AC3E}">
        <p14:creationId xmlns:p14="http://schemas.microsoft.com/office/powerpoint/2010/main" val="2276750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TODO 2：批量前向传播</a:t>
            </a:r>
          </a:p>
        </p:txBody>
      </p:sp>
      <p:pic>
        <p:nvPicPr>
          <p:cNvPr id="27" name="Picture 26" descr="forward.png"/>
          <p:cNvPicPr>
            <a:picLocks noChangeAspect="1"/>
          </p:cNvPicPr>
          <p:nvPr/>
        </p:nvPicPr>
        <p:blipFill>
          <a:blip r:embed="rId3"/>
          <a:srcRect l="1000" t="31323" r="48182" b="696"/>
          <a:stretch>
            <a:fillRect/>
          </a:stretch>
        </p:blipFill>
        <p:spPr>
          <a:xfrm>
            <a:off x="665436" y="1901952"/>
            <a:ext cx="7675966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0" y="2011680"/>
            <a:ext cx="2788920" cy="34747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线性变换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X @ W + b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300" b="1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隐藏层激活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ReLU / Sigmoid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300" b="1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输出层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07517D"/>
                </a:solidFill>
                <a:latin typeface="Calibri"/>
                <a:ea typeface="微软雅黑"/>
              </a:rPr>
              <a:t>Softmax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9904"/>
            <a:ext cx="10835640" cy="310896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D62728"/>
                </a:solidFill>
                <a:latin typeface="Calibri"/>
                <a:ea typeface="微软雅黑"/>
              </a:rPr>
              <a:t>保留缓存与循环框架；训练和预测复用同一个 forward，输出层不使用隐藏层激活。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21/35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TODO 1：Softmax 与稳定交叉熵</a:t>
            </a:r>
          </a:p>
        </p:txBody>
      </p:sp>
      <p:pic>
        <p:nvPicPr>
          <p:cNvPr id="27" name="Picture 26" descr="ce.png"/>
          <p:cNvPicPr>
            <a:picLocks noChangeAspect="1"/>
          </p:cNvPicPr>
          <p:nvPr/>
        </p:nvPicPr>
        <p:blipFill>
          <a:blip r:embed="rId3"/>
          <a:srcRect l="1031" t="1375" r="40722" b="687"/>
          <a:stretch>
            <a:fillRect/>
          </a:stretch>
        </p:blipFill>
        <p:spPr>
          <a:xfrm>
            <a:off x="2486927" y="1783080"/>
            <a:ext cx="7178521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35040"/>
            <a:ext cx="10927080" cy="3474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07517D"/>
                </a:solidFill>
                <a:latin typeface="Calibri"/>
                <a:ea typeface="微软雅黑"/>
              </a:rPr>
              <a:t>Softmax 已提供；补全 cross_entropy，返回当前批次的平均损失。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22/35</a:t>
            </a:r>
          </a:p>
        </p:txBody>
      </p:sp>
    </p:spTree>
    <p:extLst>
      <p:ext uri="{BB962C8B-B14F-4D97-AF65-F5344CB8AC3E}">
        <p14:creationId xmlns:p14="http://schemas.microsoft.com/office/powerpoint/2010/main" val="4148445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TODO 3：输出层误差与真实批次大小</a:t>
            </a:r>
          </a:p>
        </p:txBody>
      </p:sp>
      <p:pic>
        <p:nvPicPr>
          <p:cNvPr id="27" name="Picture 26" descr="backward.png"/>
          <p:cNvPicPr>
            <a:picLocks noChangeAspect="1"/>
          </p:cNvPicPr>
          <p:nvPr/>
        </p:nvPicPr>
        <p:blipFill>
          <a:blip r:embed="rId3"/>
          <a:srcRect l="634" t="378" r="45055" b="49470"/>
          <a:stretch>
            <a:fillRect/>
          </a:stretch>
        </p:blipFill>
        <p:spPr>
          <a:xfrm>
            <a:off x="2177230" y="1783080"/>
            <a:ext cx="7797914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35040"/>
            <a:ext cx="10927080" cy="3474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07517D"/>
                </a:solidFill>
                <a:latin typeface="Calibri"/>
                <a:ea typeface="微软雅黑"/>
              </a:rPr>
              <a:t>当前批次大小为 len(y)；先复制概率，再计算输出层 delta，避免原地破坏缓存。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23/35</a:t>
            </a:r>
          </a:p>
        </p:txBody>
      </p:sp>
    </p:spTree>
    <p:extLst>
      <p:ext uri="{BB962C8B-B14F-4D97-AF65-F5344CB8AC3E}">
        <p14:creationId xmlns:p14="http://schemas.microsoft.com/office/powerpoint/2010/main" val="1966407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TODO 4–6：各层梯度与隐藏层误差</a:t>
            </a:r>
          </a:p>
        </p:txBody>
      </p:sp>
      <p:pic>
        <p:nvPicPr>
          <p:cNvPr id="27" name="Picture 26" descr="backward.png"/>
          <p:cNvPicPr>
            <a:picLocks noChangeAspect="1"/>
          </p:cNvPicPr>
          <p:nvPr/>
        </p:nvPicPr>
        <p:blipFill>
          <a:blip r:embed="rId3"/>
          <a:srcRect l="634" t="50681" r="45055"/>
          <a:stretch>
            <a:fillRect/>
          </a:stretch>
        </p:blipFill>
        <p:spPr>
          <a:xfrm>
            <a:off x="2111450" y="1783080"/>
            <a:ext cx="7929474" cy="4023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35040"/>
            <a:ext cx="10927080" cy="34747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07517D"/>
                </a:solidFill>
                <a:latin typeface="Calibri"/>
                <a:ea typeface="微软雅黑"/>
              </a:rPr>
              <a:t>权重包含 L2；偏置不正则化。批次平均已在输出层处理，后面不要重复平均。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24/35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TODO 7：一次 SGD 参数更新</a:t>
            </a:r>
          </a:p>
        </p:txBody>
      </p:sp>
      <p:pic>
        <p:nvPicPr>
          <p:cNvPr id="27" name="Picture 26" descr="update.png"/>
          <p:cNvPicPr>
            <a:picLocks noChangeAspect="1"/>
          </p:cNvPicPr>
          <p:nvPr/>
        </p:nvPicPr>
        <p:blipFill>
          <a:blip r:embed="rId3"/>
          <a:srcRect l="626" r="61426"/>
          <a:stretch>
            <a:fillRect/>
          </a:stretch>
        </p:blipFill>
        <p:spPr>
          <a:xfrm>
            <a:off x="2283268" y="1847088"/>
            <a:ext cx="7640703" cy="267004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77240" y="4864608"/>
            <a:ext cx="10607040" cy="105156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956048"/>
            <a:ext cx="10369296" cy="914399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151515"/>
                </a:solidFill>
                <a:latin typeface="Calibri"/>
                <a:ea typeface="微软雅黑"/>
              </a:rPr>
              <a:t>用已经计算好的梯度更新各层权重和偏置。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151515"/>
                </a:solidFill>
                <a:latin typeface="Calibri"/>
                <a:ea typeface="微软雅黑"/>
              </a:rPr>
              <a:t>此处不再除以批次大小，也不再次加入 L2 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25/35</a:t>
            </a:r>
          </a:p>
        </p:txBody>
      </p:sp>
    </p:spTree>
    <p:extLst>
      <p:ext uri="{BB962C8B-B14F-4D97-AF65-F5344CB8AC3E}">
        <p14:creationId xmlns:p14="http://schemas.microsoft.com/office/powerpoint/2010/main" val="2195296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代码实现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小批量训练：打乱 → 取批次 → 反向 → 更新</a:t>
            </a:r>
          </a:p>
        </p:txBody>
      </p:sp>
      <p:pic>
        <p:nvPicPr>
          <p:cNvPr id="27" name="Picture 26" descr="loop.png"/>
          <p:cNvPicPr>
            <a:picLocks noChangeAspect="1"/>
          </p:cNvPicPr>
          <p:nvPr/>
        </p:nvPicPr>
        <p:blipFill>
          <a:blip r:embed="rId3"/>
          <a:srcRect l="908" r="50495" b="58817"/>
          <a:stretch>
            <a:fillRect/>
          </a:stretch>
        </p:blipFill>
        <p:spPr>
          <a:xfrm>
            <a:off x="603504" y="2070347"/>
            <a:ext cx="7863840" cy="23698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9808" y="4700016"/>
            <a:ext cx="740664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66666"/>
                </a:solidFill>
                <a:latin typeface="Calibri"/>
                <a:ea typeface="微软雅黑"/>
              </a:rPr>
              <a:t>中间省略非数值检查；随后更新参数并计算验证指标。</a:t>
            </a:r>
          </a:p>
        </p:txBody>
      </p:sp>
      <p:pic>
        <p:nvPicPr>
          <p:cNvPr id="29" name="Picture 28" descr="loop.png"/>
          <p:cNvPicPr>
            <a:picLocks noChangeAspect="1"/>
          </p:cNvPicPr>
          <p:nvPr/>
        </p:nvPicPr>
        <p:blipFill>
          <a:blip r:embed="rId3"/>
          <a:srcRect l="908" t="50116" r="50495" b="37819"/>
          <a:stretch>
            <a:fillRect/>
          </a:stretch>
        </p:blipFill>
        <p:spPr>
          <a:xfrm>
            <a:off x="603504" y="5180417"/>
            <a:ext cx="7863840" cy="6942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32520" y="1947672"/>
            <a:ext cx="2788920" cy="356616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每轮重新打乱。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1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仅训练批次可增强。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1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backward 返回梯度，update 更新参数。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1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用验证损失保存最佳轮次。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26/35</a:t>
            </a:r>
          </a:p>
        </p:txBody>
      </p:sp>
    </p:spTree>
    <p:extLst>
      <p:ext uri="{BB962C8B-B14F-4D97-AF65-F5344CB8AC3E}">
        <p14:creationId xmlns:p14="http://schemas.microsoft.com/office/powerpoint/2010/main" val="3638594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实验任务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必做任务：完成 7 处填空并分析结果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8368" y="1810512"/>
          <a:ext cx="107899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编号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内容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检查要点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1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平均交叉熵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稳定计算，返回标量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2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前向传播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批量形状、激活、缓存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3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输出层误差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只按真实批次大小平均一次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4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权重梯度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包含 L2，形状正确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5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偏置梯度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沿样本维求和，不加 L2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6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隐藏层误差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矩阵方向、激活函数导数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7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参数更新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按 SGD 更新，不重复平均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27/35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附加问题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A1：每张图片独立随机平移</a:t>
            </a:r>
          </a:p>
        </p:txBody>
      </p:sp>
      <p:pic>
        <p:nvPicPr>
          <p:cNvPr id="27" name="Picture 26" descr="augment.png"/>
          <p:cNvPicPr>
            <a:picLocks noChangeAspect="1"/>
          </p:cNvPicPr>
          <p:nvPr/>
        </p:nvPicPr>
        <p:blipFill>
          <a:blip r:embed="rId3"/>
          <a:srcRect l="584" r="53855" b="55616"/>
          <a:stretch>
            <a:fillRect/>
          </a:stretch>
        </p:blipFill>
        <p:spPr>
          <a:xfrm>
            <a:off x="612648" y="1917660"/>
            <a:ext cx="7543800" cy="42296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1901952"/>
            <a:ext cx="3063240" cy="30175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07517D"/>
                </a:solidFill>
                <a:latin typeface="Calibri"/>
                <a:ea typeface="微软雅黑"/>
              </a:rPr>
              <a:t>上下、左右独立取整数位移：−2 至 2。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19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07517D"/>
                </a:solidFill>
                <a:latin typeface="Calibri"/>
                <a:ea typeface="微软雅黑"/>
              </a:rPr>
              <a:t>边界复制填充。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07517D"/>
                </a:solidFill>
                <a:latin typeface="Calibri"/>
                <a:ea typeface="微软雅黑"/>
              </a:rPr>
              <a:t>保持图片大小和标签。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19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07517D"/>
                </a:solidFill>
                <a:latin typeface="Calibri"/>
                <a:ea typeface="微软雅黑"/>
              </a:rPr>
              <a:t>正 dy 向下，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07517D"/>
                </a:solidFill>
                <a:latin typeface="Calibri"/>
                <a:ea typeface="微软雅黑"/>
              </a:rPr>
              <a:t>正 dx 向右。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431536"/>
            <a:ext cx="301752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D62728"/>
                </a:solidFill>
                <a:latin typeface="Calibri"/>
                <a:ea typeface="微软雅黑"/>
              </a:rPr>
              <a:t>先完成 A1，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D62728"/>
                </a:solidFill>
                <a:latin typeface="Calibri"/>
                <a:ea typeface="微软雅黑"/>
              </a:rPr>
              <a:t>再完成 A2。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28/35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附加问题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A2：每张图片的亮度与对比度变化</a:t>
            </a:r>
          </a:p>
        </p:txBody>
      </p:sp>
      <p:pic>
        <p:nvPicPr>
          <p:cNvPr id="27" name="Picture 26" descr="augment.png"/>
          <p:cNvPicPr>
            <a:picLocks noChangeAspect="1"/>
          </p:cNvPicPr>
          <p:nvPr/>
        </p:nvPicPr>
        <p:blipFill>
          <a:blip r:embed="rId3"/>
          <a:srcRect l="584" t="48038" r="53855"/>
          <a:stretch>
            <a:fillRect/>
          </a:stretch>
        </p:blipFill>
        <p:spPr>
          <a:xfrm>
            <a:off x="939831" y="1792224"/>
            <a:ext cx="6797992" cy="4462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48472" y="1920240"/>
            <a:ext cx="3200400" cy="26060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亮度偏移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−0.08 至 0.08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2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对比度系数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0.85 至 1.15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endParaRPr sz="2200" b="0">
              <a:solidFill>
                <a:srgbClr val="07517D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07517D"/>
                </a:solidFill>
                <a:latin typeface="Calibri"/>
                <a:ea typeface="微软雅黑"/>
              </a:rPr>
              <a:t>像素截断到合法范围。</a:t>
            </a:r>
          </a:p>
        </p:txBody>
      </p:sp>
      <p:pic>
        <p:nvPicPr>
          <p:cNvPr id="29" name="Picture 28" descr="augmentation_exampl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48472" y="5242439"/>
            <a:ext cx="3364992" cy="87489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07908" y="6117336"/>
            <a:ext cx="3246120" cy="4572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600" b="0" dirty="0" err="1">
                <a:solidFill>
                  <a:srgbClr val="666666"/>
                </a:solidFill>
                <a:latin typeface="Calibri"/>
                <a:ea typeface="微软雅黑"/>
              </a:rPr>
              <a:t>原图与扰动示意</a:t>
            </a:r>
            <a:endParaRPr sz="1600" b="0" dirty="0">
              <a:solidFill>
                <a:srgbClr val="666666"/>
              </a:solidFill>
              <a:latin typeface="Calibri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29/35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实验设计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固定其他设置，再比较一个因素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" y="1810512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实验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改变内容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保持一致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基础基线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ReLU，L2=0，无增强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默认 784→64→24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L2 对照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--l2 0.0001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网络、轮数、学习率、划分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激活对照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--activation sigmoid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先固定同一组训练设置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增强附加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--augment mild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同轮数、同网络、同种子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3232" y="5522976"/>
            <a:ext cx="10744200" cy="777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记录训练、验证与测试表现；报告没有改善的结果，并尝试解释原因。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07517D"/>
                </a:solidFill>
                <a:latin typeface="Calibri"/>
                <a:ea typeface="微软雅黑"/>
              </a:rPr>
              <a:t>不要只比较最终准确率：同时检查损失曲线、混淆类别和过拟合迹象。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30/35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部分实验结果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基础配置参考：单隐藏层、80 轮、无增强</a:t>
            </a:r>
          </a:p>
        </p:txBody>
      </p:sp>
      <p:pic>
        <p:nvPicPr>
          <p:cNvPr id="27" name="Picture 26" descr="baseline_curv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792" y="2487999"/>
            <a:ext cx="7589520" cy="2759825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458200" y="2304288"/>
          <a:ext cx="28346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评价集合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准确率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训练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94.52%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验证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93.92%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测试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71.51%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458200" y="4928616"/>
            <a:ext cx="3017520" cy="9601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1" dirty="0" err="1">
                <a:solidFill>
                  <a:srgbClr val="D62728"/>
                </a:solidFill>
                <a:latin typeface="Calibri"/>
                <a:ea typeface="微软雅黑"/>
              </a:rPr>
              <a:t>参考结果</a:t>
            </a:r>
            <a:endParaRPr sz="2000" b="1" dirty="0">
              <a:solidFill>
                <a:srgbClr val="D62728"/>
              </a:solidFill>
              <a:latin typeface="Calibri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1" dirty="0" err="1">
                <a:solidFill>
                  <a:srgbClr val="D62728"/>
                </a:solidFill>
                <a:latin typeface="Calibri"/>
                <a:ea typeface="微软雅黑"/>
              </a:rPr>
              <a:t>不作为统一评分门槛</a:t>
            </a:r>
            <a:r>
              <a:rPr sz="2000" b="1" dirty="0">
                <a:solidFill>
                  <a:srgbClr val="D62728"/>
                </a:solidFill>
                <a:latin typeface="Calibri"/>
                <a:ea typeface="微软雅黑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61888"/>
            <a:ext cx="10789920" cy="4114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700" b="0" dirty="0" err="1">
                <a:solidFill>
                  <a:srgbClr val="07517D"/>
                </a:solidFill>
                <a:latin typeface="Calibri"/>
                <a:ea typeface="微软雅黑"/>
              </a:rPr>
              <a:t>学习率</a:t>
            </a:r>
            <a:r>
              <a:rPr sz="1700" b="0" dirty="0">
                <a:solidFill>
                  <a:srgbClr val="07517D"/>
                </a:solidFill>
                <a:latin typeface="Calibri"/>
                <a:ea typeface="微软雅黑"/>
              </a:rPr>
              <a:t> 0.01，batch=128，seed=42，L2=0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31/35</a:t>
            </a:r>
          </a:p>
        </p:txBody>
      </p:sp>
    </p:spTree>
    <p:extLst>
      <p:ext uri="{BB962C8B-B14F-4D97-AF65-F5344CB8AC3E}">
        <p14:creationId xmlns:p14="http://schemas.microsoft.com/office/powerpoint/2010/main" val="1223860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部分实验结果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扩展示例：相同 240 轮，比较是否增强</a:t>
            </a:r>
          </a:p>
        </p:txBody>
      </p:sp>
      <p:pic>
        <p:nvPicPr>
          <p:cNvPr id="27" name="Picture 26" descr="augmentation_comparis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83970" y="1746504"/>
            <a:ext cx="9639300" cy="301752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914400" y="4882896"/>
          <a:ext cx="9052560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相同 784→64→24、240 轮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官方测试准确率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无增强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73.63%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随机平移 + 亮度 / 对比度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85.19%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13232" y="6263640"/>
            <a:ext cx="10789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62728"/>
                </a:solidFill>
                <a:latin typeface="Calibri"/>
                <a:ea typeface="微软雅黑"/>
              </a:rPr>
              <a:t>两者都按正常／固定平移验证交叉熵均值选轮；这是 240 轮扩展示例，不是默认 80 轮成绩。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32/35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结果分析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验证集很高，为什么测试仍会错？</a:t>
            </a:r>
          </a:p>
        </p:txBody>
      </p:sp>
      <p:pic>
        <p:nvPicPr>
          <p:cNvPr id="27" name="Picture 26" descr="baseline_confusi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7249" y="1755648"/>
            <a:ext cx="5692140" cy="45537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32320" y="1856231"/>
            <a:ext cx="4389120" cy="19202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基线中常见混淆：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M → S：106 张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U → K：83 张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07517D"/>
                </a:solidFill>
                <a:latin typeface="Calibri"/>
                <a:ea typeface="微软雅黑"/>
              </a:rPr>
              <a:t>V → W：81 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60520"/>
            <a:ext cx="4297680" cy="17830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验证集是图片级分层划分，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不能理解为按人隔离。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结合形状、位置与亮度变化，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151515"/>
                </a:solidFill>
                <a:latin typeface="Calibri"/>
                <a:ea typeface="微软雅黑"/>
              </a:rPr>
              <a:t>讨论验证与测试的差距。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33/35</a:t>
            </a:r>
          </a:p>
        </p:txBody>
      </p:sp>
    </p:spTree>
    <p:extLst>
      <p:ext uri="{BB962C8B-B14F-4D97-AF65-F5344CB8AC3E}">
        <p14:creationId xmlns:p14="http://schemas.microsoft.com/office/powerpoint/2010/main" val="1638028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要求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" y="1051560"/>
            <a:ext cx="11064240" cy="53035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600" b="1">
                <a:solidFill>
                  <a:srgbClr val="4030B8"/>
                </a:solidFill>
                <a:latin typeface="Calibri"/>
                <a:ea typeface="微软雅黑"/>
              </a:rPr>
              <a:t>提交代码、代表性结果与实验报告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1856231"/>
          <a:ext cx="1019556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项目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要求</a:t>
                      </a:r>
                    </a:p>
                  </a:txBody>
                  <a:tcPr marR="73152" marB="27432" anchor="ctr">
                    <a:solidFill>
                      <a:srgbClr val="075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文件夹名称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Task1-学号-姓名-班级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代码文件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main.py、network.py、sign_mnist_loader.py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augmentation.py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结果目录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output 中保留有代表性的实验记录、曲线和评价结果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实验报告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Word 格式；说明实现、参数、对照结果及错误分析</a:t>
                      </a:r>
                    </a:p>
                  </a:txBody>
                  <a:tcPr marR="7315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附加题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1515"/>
                          </a:solidFill>
                          <a:latin typeface="Calibri"/>
                          <a:ea typeface="微软雅黑"/>
                        </a:rPr>
                        <a:t>注明 A1 / A2 完成情况，并比较增强前后表现</a:t>
                      </a:r>
                    </a:p>
                  </a:txBody>
                  <a:tcPr marR="73152" marB="27432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77240" y="5934456"/>
            <a:ext cx="10607040" cy="43891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1">
                <a:solidFill>
                  <a:srgbClr val="D62728"/>
                </a:solidFill>
                <a:latin typeface="Calibri"/>
                <a:ea typeface="微软雅黑"/>
              </a:rPr>
              <a:t>请勿提交数据集和缓存文件；报告如实记录未改善或未完成的部分。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34/35</a:t>
            </a:r>
          </a:p>
        </p:txBody>
      </p:sp>
    </p:spTree>
    <p:extLst>
      <p:ext uri="{BB962C8B-B14F-4D97-AF65-F5344CB8AC3E}">
        <p14:creationId xmlns:p14="http://schemas.microsoft.com/office/powerpoint/2010/main" val="3570397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8"/>
          <p:cNvSpPr txBox="1">
            <a:spLocks noChangeArrowheads="1"/>
          </p:cNvSpPr>
          <p:nvPr/>
        </p:nvSpPr>
        <p:spPr bwMode="auto">
          <a:xfrm>
            <a:off x="839657" y="282908"/>
            <a:ext cx="36146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Arial" panose="020B0604020202020204" pitchFamily="34" charset="0"/>
              </a:rPr>
              <a:t>机器学习课程实验</a:t>
            </a:r>
          </a:p>
        </p:txBody>
      </p:sp>
      <p:sp>
        <p:nvSpPr>
          <p:cNvPr id="24" name="燕尾形 23"/>
          <p:cNvSpPr/>
          <p:nvPr/>
        </p:nvSpPr>
        <p:spPr bwMode="auto">
          <a:xfrm>
            <a:off x="295275" y="384955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5" name="燕尾形 24"/>
          <p:cNvSpPr/>
          <p:nvPr/>
        </p:nvSpPr>
        <p:spPr bwMode="auto">
          <a:xfrm>
            <a:off x="563432" y="386389"/>
            <a:ext cx="276225" cy="349904"/>
          </a:xfrm>
          <a:prstGeom prst="chevron">
            <a:avLst>
              <a:gd name="adj" fmla="val 37480"/>
            </a:avLst>
          </a:prstGeom>
          <a:solidFill>
            <a:srgbClr val="0046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4000" b="1">
                <a:solidFill>
                  <a:srgbClr val="07517D"/>
                </a:solidFill>
                <a:latin typeface="Calibri"/>
                <a:ea typeface="微软雅黑"/>
              </a:rPr>
              <a:t>Thank You    Q &amp;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784063"/>
            <a:ext cx="8046720" cy="10972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3200" b="1" dirty="0">
                <a:solidFill>
                  <a:srgbClr val="151515"/>
                </a:solidFill>
                <a:latin typeface="Calibri"/>
                <a:ea typeface="微软雅黑"/>
              </a:rPr>
              <a:t>Task1</a:t>
            </a:r>
            <a:r>
              <a:rPr sz="2800" b="1" dirty="0">
                <a:solidFill>
                  <a:srgbClr val="151515"/>
                </a:solidFill>
                <a:latin typeface="Calibri"/>
                <a:ea typeface="微软雅黑"/>
              </a:rPr>
              <a:t> · </a:t>
            </a:r>
            <a:r>
              <a:rPr sz="2800" b="1" dirty="0" err="1">
                <a:solidFill>
                  <a:srgbClr val="151515"/>
                </a:solidFill>
                <a:latin typeface="Calibri"/>
                <a:ea typeface="微软雅黑"/>
              </a:rPr>
              <a:t>静态手势分类</a:t>
            </a:r>
            <a:endParaRPr sz="2800" b="1" dirty="0">
              <a:solidFill>
                <a:srgbClr val="151515"/>
              </a:solidFill>
              <a:latin typeface="Calibri"/>
              <a:ea typeface="微软雅黑"/>
            </a:endParaRP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800" b="1" dirty="0" err="1">
                <a:solidFill>
                  <a:srgbClr val="151515"/>
                </a:solidFill>
                <a:latin typeface="Calibri"/>
                <a:ea typeface="微软雅黑"/>
              </a:rPr>
              <a:t>先完成核心网络，再解释实验现象</a:t>
            </a:r>
            <a:r>
              <a:rPr sz="2800" b="1" dirty="0">
                <a:solidFill>
                  <a:srgbClr val="151515"/>
                </a:solidFill>
                <a:latin typeface="Calibri"/>
                <a:ea typeface="微软雅黑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6768" y="6446520"/>
            <a:ext cx="987552" cy="256032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888888"/>
                </a:solidFill>
                <a:latin typeface="Calibri"/>
                <a:ea typeface="微软雅黑"/>
              </a:rPr>
              <a:t>35/35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A2F6E-6891-2260-4896-B0DD63AD4844}"/>
              </a:ext>
            </a:extLst>
          </p:cNvPr>
          <p:cNvSpPr txBox="1"/>
          <p:nvPr/>
        </p:nvSpPr>
        <p:spPr>
          <a:xfrm>
            <a:off x="3596316" y="3669967"/>
            <a:ext cx="5333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高煜明</a:t>
            </a:r>
            <a:r>
              <a:rPr lang="zh-CN" altLang="en-US" sz="2400" dirty="0"/>
              <a:t>  </a:t>
            </a:r>
            <a:r>
              <a:rPr lang="en-US" altLang="zh-CN" sz="2400" dirty="0"/>
              <a:t>gaoyuming11@stu.xjtu.edu.cn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0794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4_自定义设计方案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70C1"/>
      </a:accent1>
      <a:accent2>
        <a:srgbClr val="A6A6A6"/>
      </a:accent2>
      <a:accent3>
        <a:srgbClr val="0170C1"/>
      </a:accent3>
      <a:accent4>
        <a:srgbClr val="A6A6A6"/>
      </a:accent4>
      <a:accent5>
        <a:srgbClr val="0170C1"/>
      </a:accent5>
      <a:accent6>
        <a:srgbClr val="A6A6A6"/>
      </a:accent6>
      <a:hlink>
        <a:srgbClr val="0170C1"/>
      </a:hlink>
      <a:folHlink>
        <a:srgbClr val="A6A6A6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1709</Words>
  <Application>Microsoft Macintosh PowerPoint</Application>
  <PresentationFormat>Widescreen</PresentationFormat>
  <Paragraphs>521</Paragraphs>
  <Slides>36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等线</vt:lpstr>
      <vt:lpstr>等线 Light</vt:lpstr>
      <vt:lpstr>微软雅黑</vt:lpstr>
      <vt:lpstr>Arial</vt:lpstr>
      <vt:lpstr>Calibri</vt:lpstr>
      <vt:lpstr>Calibri Light</vt:lpstr>
      <vt:lpstr>Cambria Math</vt:lpstr>
      <vt:lpstr>Courier New</vt:lpstr>
      <vt:lpstr>Times New Roman</vt:lpstr>
      <vt:lpstr>Office 主题</vt:lpstr>
      <vt:lpstr>24_自定义设计方案</vt:lpstr>
      <vt:lpstr>方程式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Task1：使用全连接神经网络进行静态手势分类</dc:title>
  <dc:subject/>
  <dc:creator>Yuming Gao</dc:creator>
  <cp:keywords>Sign Language MNIST, NumPy, 全连接网络, 7处必做填空, 2道附加题</cp:keywords>
  <dc:description/>
  <cp:lastModifiedBy/>
  <cp:revision>1</cp:revision>
  <dcterms:created xsi:type="dcterms:W3CDTF">2024-03-26T07:43:44Z</dcterms:created>
  <dcterms:modified xsi:type="dcterms:W3CDTF">2026-10-22T06:26:12Z</dcterms:modified>
  <cp:category/>
</cp:coreProperties>
</file>