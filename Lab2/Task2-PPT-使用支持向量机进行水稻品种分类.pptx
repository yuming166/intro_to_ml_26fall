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rts/chart1.xml" ContentType="application/vnd.openxmlformats-officedocument.drawingml.chart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371" r:id="rId2"/>
    <p:sldId id="380" r:id="rId3"/>
    <p:sldId id="418" r:id="rId4"/>
    <p:sldId id="417" r:id="rId5"/>
    <p:sldId id="454" r:id="rId6"/>
    <p:sldId id="420" r:id="rId7"/>
    <p:sldId id="423" r:id="rId8"/>
    <p:sldId id="425" r:id="rId9"/>
    <p:sldId id="426" r:id="rId10"/>
    <p:sldId id="424" r:id="rId11"/>
    <p:sldId id="429" r:id="rId12"/>
    <p:sldId id="386" r:id="rId13"/>
    <p:sldId id="437" r:id="rId14"/>
    <p:sldId id="400" r:id="rId15"/>
    <p:sldId id="438" r:id="rId16"/>
    <p:sldId id="439" r:id="rId17"/>
    <p:sldId id="394" r:id="rId18"/>
    <p:sldId id="432" r:id="rId19"/>
    <p:sldId id="433" r:id="rId20"/>
    <p:sldId id="436" r:id="rId21"/>
    <p:sldId id="428" r:id="rId22"/>
    <p:sldId id="379" r:id="rId23"/>
    <p:sldId id="440" r:id="rId24"/>
    <p:sldId id="441" r:id="rId25"/>
    <p:sldId id="442" r:id="rId26"/>
    <p:sldId id="443" r:id="rId27"/>
    <p:sldId id="444" r:id="rId28"/>
    <p:sldId id="445" r:id="rId29"/>
    <p:sldId id="446" r:id="rId30"/>
    <p:sldId id="447" r:id="rId31"/>
    <p:sldId id="448" r:id="rId32"/>
    <p:sldId id="449" r:id="rId33"/>
    <p:sldId id="450" r:id="rId34"/>
    <p:sldId id="451" r:id="rId35"/>
    <p:sldId id="452" r:id="rId36"/>
    <p:sldId id="453" r:id="rId3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2B2B2B"/>
    <a:srgbClr val="DEE6F5"/>
    <a:srgbClr val="D6E0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7617" autoAdjust="0"/>
  </p:normalViewPr>
  <p:slideViewPr>
    <p:cSldViewPr snapToGrid="0">
      <p:cViewPr varScale="1">
        <p:scale>
          <a:sx n="114" d="100"/>
          <a:sy n="114" d="100"/>
        </p:scale>
        <p:origin x="10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A5A5A5"/>
              </a:solidFill>
            </c:spPr>
            <c:extLst>
              <c:ext xmlns:c16="http://schemas.microsoft.com/office/drawing/2014/chart" uri="{C3380CC4-5D6E-409C-BE32-E72D297353CC}">
                <c16:uniqueId val="{00000001-753D-C840-AE16-325C40DC118F}"/>
              </c:ext>
            </c:extLst>
          </c:dPt>
          <c:dPt>
            <c:idx val="1"/>
            <c:invertIfNegative val="1"/>
            <c:bubble3D val="0"/>
            <c:spPr>
              <a:solidFill>
                <a:srgbClr val="4472C4"/>
              </a:solidFill>
            </c:spPr>
            <c:extLst>
              <c:ext xmlns:c16="http://schemas.microsoft.com/office/drawing/2014/chart" uri="{C3380CC4-5D6E-409C-BE32-E72D297353CC}">
                <c16:uniqueId val="{00000003-753D-C840-AE16-325C40DC118F}"/>
              </c:ext>
            </c:extLst>
          </c:dPt>
          <c:dLbls>
            <c:numFmt formatCode="0.0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Raw features</c:v>
                </c:pt>
                <c:pt idx="1">
                  <c:v>Standardized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63.123359580052494</c:v>
                </c:pt>
                <c:pt idx="1">
                  <c:v>91.60104986876641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53D-C840-AE16-325C40DC118F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500">
                <a:latin typeface="Arial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latin typeface="Arial"/>
              </a:defRPr>
            </a:pPr>
            <a:endParaRPr lang="en-US"/>
          </a:p>
        </c:txPr>
        <c:crossAx val="-2068027336"/>
        <c:crosses val="autoZero"/>
        <c:crossBetween val="between"/>
        <c:majorUnit val="2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ADC33A-3F87-4AF0-A36F-EE56386801D8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CF41E3-8868-414C-9665-809D7C8347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750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0421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9345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来源</a:t>
            </a:r>
            <a:r>
              <a:rPr dirty="0"/>
              <a:t> UCI Rice (</a:t>
            </a:r>
            <a:r>
              <a:rPr dirty="0" err="1"/>
              <a:t>Cammeo</a:t>
            </a:r>
            <a:r>
              <a:rPr dirty="0"/>
              <a:t> and </a:t>
            </a:r>
            <a:r>
              <a:rPr dirty="0" err="1"/>
              <a:t>Osmancik</a:t>
            </a:r>
            <a:r>
              <a:rPr dirty="0"/>
              <a:t>), 2019, https://</a:t>
            </a:r>
            <a:r>
              <a:rPr dirty="0" err="1"/>
              <a:t>doi.org</a:t>
            </a:r>
            <a:r>
              <a:rPr dirty="0"/>
              <a:t>/10.24432/C5MW4Z，CC BY 4.0</a:t>
            </a:r>
          </a:p>
        </p:txBody>
      </p:sp>
    </p:spTree>
    <p:extLst>
      <p:ext uri="{BB962C8B-B14F-4D97-AF65-F5344CB8AC3E}">
        <p14:creationId xmlns:p14="http://schemas.microsoft.com/office/powerpoint/2010/main" val="3459682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120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96103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4183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50618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54275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8861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803461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03222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939096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84982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3229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3137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194062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18627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34536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321059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4341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856970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0251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四档</a:t>
            </a:r>
            <a:r>
              <a:rPr dirty="0"/>
              <a:t> </a:t>
            </a:r>
            <a:r>
              <a:rPr dirty="0" err="1"/>
              <a:t>λ</a:t>
            </a:r>
            <a:r>
              <a:rPr dirty="0"/>
              <a:t> 均使用标准化、150轮、lr=0.05、batch=64、seed=42。验证平均hinge损失可横比，不直接横比含不同λ的总目标。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混淆矩阵来自默认手写模型的固定测试集：[[289,37],[27,409]]，64/762 错分。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来自既有</a:t>
            </a:r>
            <a:r>
              <a:rPr dirty="0"/>
              <a:t> output/</a:t>
            </a:r>
            <a:r>
              <a:rPr dirty="0" err="1"/>
              <a:t>toy_results.json</a:t>
            </a:r>
            <a:r>
              <a:rPr dirty="0"/>
              <a:t> </a:t>
            </a:r>
            <a:r>
              <a:rPr dirty="0" err="1"/>
              <a:t>和</a:t>
            </a:r>
            <a:r>
              <a:rPr dirty="0"/>
              <a:t> </a:t>
            </a:r>
            <a:r>
              <a:rPr dirty="0" err="1"/>
              <a:t>toy_boundaries.png。make_moons</a:t>
            </a:r>
            <a:r>
              <a:rPr dirty="0"/>
              <a:t> n=600, noise=.2, seed=42；train/</a:t>
            </a:r>
            <a:r>
              <a:rPr dirty="0" err="1"/>
              <a:t>val</a:t>
            </a:r>
            <a:r>
              <a:rPr dirty="0"/>
              <a:t>/test=360/120/120；标准化仅在训练行拟合。两种模型 C=1，RBF gamma=1；测试分别107/120与115/120。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1AF74F-2BA7-41D4-918E-0DF65A5E7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C745E63-0413-4C43-8530-B5EB3C7D9E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4F3211-9080-43C9-B70F-19C25DEAB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BD30CB-BEDD-407B-BCB2-13B88A68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B62A05-29BE-4BEF-BBA8-81A863F18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54742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346C943-642A-42D2-801E-380E5EC65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0688F6-83EC-4284-89D2-31A80090F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57C9548-AF39-42D2-90A7-AB82B0B6F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0A69F6-6104-4AEE-AAD7-345012E1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F72F8A-A535-4410-99B3-955780E72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9988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AADBA-4F4D-4084-8CE3-D4912AB16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168C3D-D083-4889-B739-ABE308769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08E51E-5AE1-4FCD-91B4-24C3B47D1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206AFA-80F9-47FE-908F-37B4BAE8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51625DB-A580-4AB4-9DF4-555FAAA3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475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102C7F-D137-4656-B82C-ADD488BD1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0D0785-5DD8-446B-B5ED-4F8ED4F8E7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D8BE6E0-EE29-4D03-96AA-95C0C958E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BB0CE0-BF11-46A5-914C-BBB0B3D7E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36E9A98-F855-458F-A52D-322878C0A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E341666-0CBC-4B8D-8985-006B0A29B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153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4D5F88-7F22-4768-B106-07B0A193E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2C8165-7315-4777-BB68-A9B3BCC57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C833AD-A0CF-48B3-8199-9F91BBB0A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2B11D88-80EC-424F-A9BC-01EFA24890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D407E4C-360C-4FD8-A843-1FC102B1D7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314AE2C7-6799-4A95-B6C6-6AA7A2B28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48904B-9775-4200-A492-8ABC9CC6B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0C5B096-0B17-4685-898C-76079832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106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CEFAB3-2A0B-4557-AC9E-BAB8EC253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CD6DB63-C1D8-481A-B8E7-12C8D261D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7140EA4-5667-4AA5-BB38-4B1FA974D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AAD9869-F892-404C-B017-4C59E1CF8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52892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A23E126-381B-4577-8207-FE612B4E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36E35A-C560-4EC0-9EF5-361F124CD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3F22227-2A42-44AC-9756-6F4236CB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3608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95D2E1-F4F5-46AA-82F1-A8E94D52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DB4D29-608C-4B4F-9BAA-5B8C120C1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FDD5B7-754F-451E-99B2-93FC1F3CDA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1A6AC16-9B56-45D5-95EE-9F08ADE76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AC7EB0-891A-412A-A5F1-462AB1200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BBCFC2-9758-4FE8-BB7D-5E374774F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72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74206C-2526-421F-8043-51BEC399FD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BC325BC-79A6-479A-ACA7-33CB0A7C1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E9287E-0A27-485B-82CD-F0AB9A08C8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D25FDA-39B0-494F-AB77-5A146B6A5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605C2A-7C24-4318-974B-EB990EB8E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B89ECEE-C8C4-4009-9127-3AD1511DB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04788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DAF6F4-6879-44C5-9C4E-F9B2E3AEE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E97140B-2800-4E8A-BAC1-8F78678D4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91B094-C85E-4D42-B33A-EF7BFECBC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DE8ACB-4246-4D43-85A8-F04288992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426508F-98A5-4C12-8A32-217B70B5C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3722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64FDE97-6EDF-492A-8DB6-7E944ECA34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A3A1C4E-A0D2-44C5-828F-7BF8000A8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735B20-C796-47FC-A006-189CB34E2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A780824-04D9-47D0-A4CC-D6121B2AF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F69D2D-0315-4B46-8B52-69BC2F597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0421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B7EC3F-B4E0-46A6-B445-C84FF79F3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8EF5B-747F-4C71-9EAF-DC23CC18EA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48D3DA-AA07-4964-90CA-6360438127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B34418-CD9E-46F8-90C6-EB5E6F3BB8F1}" type="datetimeFigureOut">
              <a:rPr lang="zh-CN" altLang="en-US" smtClean="0"/>
              <a:t>2026/10/22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F73F73-E58B-47D6-8B32-6E8B132B11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8AAE57-64BE-401D-8D82-6278C30DAB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81CB09-1DBE-479B-A6DD-755F2832FDB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053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44736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 dirty="0" err="1">
                <a:solidFill>
                  <a:srgbClr val="222222"/>
                </a:solidFill>
                <a:latin typeface="微软雅黑"/>
                <a:ea typeface="微软雅黑"/>
              </a:rPr>
              <a:t>机器学习</a:t>
            </a:r>
            <a:r>
              <a:rPr lang="en-US" sz="2800" b="0" dirty="0" err="1">
                <a:solidFill>
                  <a:srgbClr val="222222"/>
                </a:solidFill>
                <a:latin typeface="微软雅黑"/>
                <a:ea typeface="微软雅黑"/>
              </a:rPr>
              <a:t>综合训练</a:t>
            </a:r>
            <a:endParaRPr sz="2800" b="0" dirty="0">
              <a:solidFill>
                <a:srgbClr val="222222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1/36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993392"/>
            <a:ext cx="10332720" cy="543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lang="en-US" sz="3400" b="1" dirty="0" err="1">
                <a:solidFill>
                  <a:srgbClr val="4472C4"/>
                </a:solidFill>
                <a:latin typeface="微软雅黑"/>
                <a:ea typeface="微软雅黑"/>
              </a:rPr>
              <a:t>实验二</a:t>
            </a:r>
            <a:r>
              <a:rPr lang="zh-CN" altLang="en-US" sz="3400" b="1" dirty="0">
                <a:solidFill>
                  <a:srgbClr val="4472C4"/>
                </a:solidFill>
                <a:latin typeface="微软雅黑"/>
                <a:ea typeface="微软雅黑"/>
              </a:rPr>
              <a:t>：</a:t>
            </a:r>
            <a:r>
              <a:rPr sz="3400" b="1" dirty="0" err="1">
                <a:solidFill>
                  <a:srgbClr val="4472C4"/>
                </a:solidFill>
                <a:latin typeface="微软雅黑"/>
                <a:ea typeface="微软雅黑"/>
              </a:rPr>
              <a:t>使用支持向量机区分两种水稻</a:t>
            </a:r>
            <a:endParaRPr sz="3400" b="1" dirty="0">
              <a:solidFill>
                <a:srgbClr val="4472C4"/>
              </a:solidFill>
              <a:latin typeface="微软雅黑"/>
              <a:ea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44040" y="2837315"/>
            <a:ext cx="8503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500" b="0" dirty="0" err="1">
                <a:solidFill>
                  <a:srgbClr val="222222"/>
                </a:solidFill>
                <a:latin typeface="微软雅黑"/>
                <a:ea typeface="微软雅黑"/>
              </a:rPr>
              <a:t>手写线性</a:t>
            </a:r>
            <a:r>
              <a:rPr sz="2500" b="0" dirty="0">
                <a:solidFill>
                  <a:srgbClr val="222222"/>
                </a:solidFill>
                <a:latin typeface="微软雅黑"/>
                <a:ea typeface="微软雅黑"/>
              </a:rPr>
              <a:t> SVM · </a:t>
            </a:r>
            <a:r>
              <a:rPr sz="2500" b="0" dirty="0" err="1">
                <a:solidFill>
                  <a:srgbClr val="222222"/>
                </a:solidFill>
                <a:latin typeface="微软雅黑"/>
                <a:ea typeface="微软雅黑"/>
              </a:rPr>
              <a:t>标准化与正则化对照</a:t>
            </a:r>
            <a:endParaRPr sz="2500" b="0" dirty="0">
              <a:solidFill>
                <a:srgbClr val="222222"/>
              </a:solidFill>
              <a:latin typeface="微软雅黑"/>
              <a:ea typeface="微软雅黑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EA4E5C-3232-7316-5905-8D8DCF202DF5}"/>
              </a:ext>
            </a:extLst>
          </p:cNvPr>
          <p:cNvSpPr txBox="1"/>
          <p:nvPr/>
        </p:nvSpPr>
        <p:spPr>
          <a:xfrm>
            <a:off x="4091030" y="4211347"/>
            <a:ext cx="54503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庞善民</a:t>
            </a:r>
            <a:r>
              <a:rPr lang="zh-CN" altLang="en-US" sz="2400" dirty="0"/>
              <a:t> 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 pangsm</a:t>
            </a:r>
            <a:r>
              <a:rPr lang="en-US" altLang="zh-CN" sz="2400" dirty="0">
                <a:ea typeface="Microsoft Yahei" panose="020B0503020204020204" pitchFamily="34" charset="-122"/>
              </a:rPr>
              <a:t>@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xjtu</a:t>
            </a:r>
            <a:r>
              <a:rPr lang="en-US" altLang="zh-CN" sz="2400" i="0" strike="noStrike" dirty="0">
                <a:effectLst/>
                <a:ea typeface="Microsoft Yahei" panose="020B0503020204020204" pitchFamily="34" charset="-122"/>
              </a:rPr>
              <a:t>.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edu</a:t>
            </a:r>
            <a:r>
              <a:rPr lang="en-US" sz="2400" dirty="0">
                <a:ea typeface="Microsoft Yahei" panose="020B0503020204020204" pitchFamily="34" charset="-122"/>
              </a:rPr>
              <a:t>.</a:t>
            </a:r>
            <a:r>
              <a:rPr lang="en-US" sz="2400" i="0" strike="noStrike" dirty="0">
                <a:effectLst/>
                <a:ea typeface="Microsoft Yahei" panose="020B0503020204020204" pitchFamily="34" charset="-122"/>
              </a:rPr>
              <a:t>cn</a:t>
            </a:r>
            <a:r>
              <a:rPr lang="zh-CN" altLang="en-US" sz="2400" dirty="0"/>
              <a:t> 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54521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实验内容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从 7 维形态特征到一个分类超平面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2/36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1828800"/>
            <a:ext cx="3429000" cy="228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2" y="1965960"/>
            <a:ext cx="3099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4472C4"/>
                </a:solidFill>
                <a:latin typeface="微软雅黑"/>
                <a:ea typeface="微软雅黑"/>
              </a:rPr>
              <a:t>理解模型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2432304"/>
            <a:ext cx="309981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线性分数与函数间隔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hinge 损失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L2 正则化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70832" y="1828800"/>
            <a:ext cx="3429000" cy="228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35424" y="1965960"/>
            <a:ext cx="3099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4472C4"/>
                </a:solidFill>
                <a:latin typeface="微软雅黑"/>
                <a:ea typeface="微软雅黑"/>
              </a:rPr>
              <a:t>补全核心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35424" y="2432304"/>
            <a:ext cx="309981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6 处 TODO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批量（子）梯度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学习率与 SGD 更新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10144" y="1828800"/>
            <a:ext cx="3429000" cy="22860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174736" y="1965960"/>
            <a:ext cx="30998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1">
                <a:solidFill>
                  <a:srgbClr val="4472C4"/>
                </a:solidFill>
                <a:latin typeface="微软雅黑"/>
                <a:ea typeface="微软雅黑"/>
              </a:rPr>
              <a:t>解释结果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74736" y="2432304"/>
            <a:ext cx="3099816" cy="1600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标准化对照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正则化强度对照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222222"/>
                </a:solidFill>
                <a:latin typeface="微软雅黑"/>
                <a:ea typeface="微软雅黑"/>
              </a:rPr>
              <a:t>混淆类别分析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315968"/>
            <a:ext cx="10424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 dirty="0" err="1">
                <a:solidFill>
                  <a:srgbClr val="4472C4"/>
                </a:solidFill>
                <a:latin typeface="微软雅黑"/>
                <a:ea typeface="微软雅黑"/>
              </a:rPr>
              <a:t>选做</a:t>
            </a:r>
            <a:r>
              <a:rPr sz="2300" b="0" dirty="0">
                <a:solidFill>
                  <a:srgbClr val="4472C4"/>
                </a:solidFill>
                <a:latin typeface="微软雅黑"/>
                <a:ea typeface="微软雅黑"/>
              </a:rPr>
              <a:t> A1：稳定 logistic </a:t>
            </a:r>
            <a:r>
              <a:rPr sz="2300" b="0" dirty="0" err="1">
                <a:solidFill>
                  <a:srgbClr val="4472C4"/>
                </a:solidFill>
                <a:latin typeface="微软雅黑"/>
                <a:ea typeface="微软雅黑"/>
              </a:rPr>
              <a:t>损失</a:t>
            </a:r>
            <a:r>
              <a:rPr sz="2300" b="0" dirty="0">
                <a:solidFill>
                  <a:srgbClr val="4472C4"/>
                </a:solidFill>
                <a:latin typeface="微软雅黑"/>
                <a:ea typeface="微软雅黑"/>
              </a:rPr>
              <a:t>    </a:t>
            </a:r>
            <a:r>
              <a:rPr sz="2300" b="0" dirty="0" err="1">
                <a:solidFill>
                  <a:srgbClr val="4472C4"/>
                </a:solidFill>
                <a:latin typeface="微软雅黑"/>
                <a:ea typeface="微软雅黑"/>
              </a:rPr>
              <a:t>选做</a:t>
            </a:r>
            <a:r>
              <a:rPr sz="2300" b="0" dirty="0">
                <a:solidFill>
                  <a:srgbClr val="4472C4"/>
                </a:solidFill>
                <a:latin typeface="微软雅黑"/>
                <a:ea typeface="微软雅黑"/>
              </a:rPr>
              <a:t> A2：RBF </a:t>
            </a:r>
            <a:r>
              <a:rPr sz="2300" b="0" dirty="0" err="1">
                <a:solidFill>
                  <a:srgbClr val="4472C4"/>
                </a:solidFill>
                <a:latin typeface="微软雅黑"/>
                <a:ea typeface="微软雅黑"/>
              </a:rPr>
              <a:t>核与二维边界</a:t>
            </a:r>
            <a:endParaRPr sz="2300" b="0" dirty="0">
              <a:solidFill>
                <a:srgbClr val="4472C4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数据集介绍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Rice：两种水稻、3,810 条记录、7 个数值特征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1828800"/>
          <a:ext cx="484631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特征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Area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面积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Perimeter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周长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Major / Minor axis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长轴 / 短轴长度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Eccentricity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偏心率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3325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Convex Area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凸包面积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333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Extent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外接矩形面积占比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20" name="Picture 19" descr="rice_featur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69280" y="1839322"/>
            <a:ext cx="5943600" cy="37737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31520" y="5577840"/>
            <a:ext cx="1078992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Cammeo：1,630 </a:t>
            </a:r>
            <a:r>
              <a:rPr sz="2200" b="0" dirty="0" err="1">
                <a:solidFill>
                  <a:srgbClr val="4472C4"/>
                </a:solidFill>
                <a:latin typeface="微软雅黑"/>
                <a:ea typeface="微软雅黑"/>
              </a:rPr>
              <a:t>条</a:t>
            </a: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 → −1        Osmancik：2,180 </a:t>
            </a:r>
            <a:r>
              <a:rPr sz="2200" b="0" dirty="0" err="1">
                <a:solidFill>
                  <a:srgbClr val="4472C4"/>
                </a:solidFill>
                <a:latin typeface="微软雅黑"/>
                <a:ea typeface="微软雅黑"/>
              </a:rPr>
              <a:t>条</a:t>
            </a: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 → +1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6318504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dirty="0" err="1">
                <a:solidFill>
                  <a:srgbClr val="666666"/>
                </a:solidFill>
                <a:latin typeface="微软雅黑"/>
                <a:ea typeface="微软雅黑"/>
              </a:rPr>
              <a:t>提供的是已提取的形态特征表，无需处理原始图片。来源：UCI，doi.org</a:t>
            </a:r>
            <a:r>
              <a:rPr sz="1300" b="0" dirty="0">
                <a:solidFill>
                  <a:srgbClr val="666666"/>
                </a:solidFill>
                <a:latin typeface="微软雅黑"/>
                <a:ea typeface="微软雅黑"/>
              </a:rPr>
              <a:t>/10.24432/C5MW4Z。</a:t>
            </a:r>
          </a:p>
        </p:txBody>
      </p:sp>
    </p:spTree>
    <p:extLst>
      <p:ext uri="{BB962C8B-B14F-4D97-AF65-F5344CB8AC3E}">
        <p14:creationId xmlns:p14="http://schemas.microsoft.com/office/powerpoint/2010/main" val="3029696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数据划分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固定分层划分：训练、验证、测试各有用途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4/36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1828800"/>
          <a:ext cx="1069847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5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237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集合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比例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用途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训练集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2,286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拟合标准化统计量、更新模型参数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验证集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762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开发选择与保存轮次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测试集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762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配置确定后的最终评价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0" name="Picture 19" descr="eq_standardiz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966335" y="4389120"/>
            <a:ext cx="2045969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14400" y="5340096"/>
            <a:ext cx="1033272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4472C4"/>
                </a:solidFill>
                <a:latin typeface="微软雅黑"/>
                <a:ea typeface="微软雅黑"/>
              </a:rPr>
              <a:t>均值、标准差只由训练行估计；同一套变换用于验证和测试。</a:t>
            </a:r>
          </a:p>
        </p:txBody>
      </p:sp>
    </p:spTree>
    <p:extLst>
      <p:ext uri="{BB962C8B-B14F-4D97-AF65-F5344CB8AC3E}">
        <p14:creationId xmlns:p14="http://schemas.microsoft.com/office/powerpoint/2010/main" val="29867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回顾：SVM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线性边界与软间隔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5/36</a:t>
            </a:r>
          </a:p>
        </p:txBody>
      </p:sp>
      <p:pic>
        <p:nvPicPr>
          <p:cNvPr id="19" name="Picture 18" descr="original_slide3_shape22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62939" y="1874519"/>
            <a:ext cx="5349240" cy="3840480"/>
          </a:xfrm>
          <a:prstGeom prst="rect">
            <a:avLst/>
          </a:prstGeom>
        </p:spPr>
      </p:pic>
      <p:sp>
        <p:nvSpPr>
          <p:cNvPr id="1001" name="SoftMarginTeaching_1001"/>
          <p:cNvSpPr/>
          <p:nvPr/>
        </p:nvSpPr>
        <p:spPr>
          <a:xfrm>
            <a:off x="7941910" y="2117295"/>
            <a:ext cx="1701998" cy="3230783"/>
          </a:xfrm>
          <a:custGeom>
            <a:avLst/>
            <a:gdLst/>
            <a:ahLst/>
            <a:cxnLst/>
            <a:rect l="l" t="t" r="r" b="b"/>
            <a:pathLst>
              <a:path w="1701998" h="3230783">
                <a:moveTo>
                  <a:pt x="0" y="0"/>
                </a:moveTo>
                <a:lnTo>
                  <a:pt x="1120472" y="0"/>
                </a:lnTo>
                <a:lnTo>
                  <a:pt x="1701998" y="3230783"/>
                </a:lnTo>
                <a:lnTo>
                  <a:pt x="581525" y="3230783"/>
                </a:lnTo>
                <a:close/>
              </a:path>
            </a:pathLst>
          </a:custGeom>
          <a:solidFill>
            <a:srgbClr val="F0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002" name="SoftMarginTeaching_1002"/>
          <p:cNvCxnSpPr/>
          <p:nvPr/>
        </p:nvCxnSpPr>
        <p:spPr>
          <a:xfrm>
            <a:off x="7941910" y="2117295"/>
            <a:ext cx="581525" cy="3230783"/>
          </a:xfrm>
          <a:prstGeom prst="line">
            <a:avLst/>
          </a:prstGeom>
          <a:ln w="15875">
            <a:solidFill>
              <a:srgbClr val="6F81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3" name="SoftMarginTeaching_1003"/>
          <p:cNvSpPr txBox="1"/>
          <p:nvPr/>
        </p:nvSpPr>
        <p:spPr>
          <a:xfrm>
            <a:off x="7592358" y="1888236"/>
            <a:ext cx="62179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26B7C"/>
                </a:solidFill>
                <a:latin typeface="Arial"/>
                <a:ea typeface="微软雅黑"/>
              </a:rPr>
              <a:t>s=+1</a:t>
            </a:r>
          </a:p>
        </p:txBody>
      </p:sp>
      <p:cxnSp>
        <p:nvCxnSpPr>
          <p:cNvPr id="1004" name="SoftMarginTeaching_1004"/>
          <p:cNvCxnSpPr/>
          <p:nvPr/>
        </p:nvCxnSpPr>
        <p:spPr>
          <a:xfrm>
            <a:off x="8502146" y="2117295"/>
            <a:ext cx="581525" cy="3230783"/>
          </a:xfrm>
          <a:prstGeom prst="line">
            <a:avLst/>
          </a:prstGeom>
          <a:ln w="25400">
            <a:solidFill>
              <a:srgbClr val="2525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5" name="SoftMarginTeaching_1005"/>
          <p:cNvSpPr txBox="1"/>
          <p:nvPr/>
        </p:nvSpPr>
        <p:spPr>
          <a:xfrm>
            <a:off x="8152594" y="1888236"/>
            <a:ext cx="62179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252525"/>
                </a:solidFill>
                <a:latin typeface="Arial"/>
                <a:ea typeface="微软雅黑"/>
              </a:rPr>
              <a:t>s=0</a:t>
            </a:r>
          </a:p>
        </p:txBody>
      </p:sp>
      <p:cxnSp>
        <p:nvCxnSpPr>
          <p:cNvPr id="1006" name="SoftMarginTeaching_1006"/>
          <p:cNvCxnSpPr/>
          <p:nvPr/>
        </p:nvCxnSpPr>
        <p:spPr>
          <a:xfrm>
            <a:off x="9062382" y="2117295"/>
            <a:ext cx="581526" cy="3230783"/>
          </a:xfrm>
          <a:prstGeom prst="line">
            <a:avLst/>
          </a:prstGeom>
          <a:ln w="15875">
            <a:solidFill>
              <a:srgbClr val="6F819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7" name="SoftMarginTeaching_1007"/>
          <p:cNvSpPr txBox="1"/>
          <p:nvPr/>
        </p:nvSpPr>
        <p:spPr>
          <a:xfrm>
            <a:off x="8712830" y="1888236"/>
            <a:ext cx="621792" cy="237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>
                <a:solidFill>
                  <a:srgbClr val="526B7C"/>
                </a:solidFill>
                <a:latin typeface="Arial"/>
                <a:ea typeface="微软雅黑"/>
              </a:rPr>
              <a:t>s=-1</a:t>
            </a:r>
          </a:p>
        </p:txBody>
      </p:sp>
      <p:sp>
        <p:nvSpPr>
          <p:cNvPr id="1008" name="SoftMarginTeaching_1008"/>
          <p:cNvSpPr/>
          <p:nvPr/>
        </p:nvSpPr>
        <p:spPr>
          <a:xfrm>
            <a:off x="8080528" y="2330831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9" name="SoftMarginTeaching_1009"/>
          <p:cNvSpPr/>
          <p:nvPr/>
        </p:nvSpPr>
        <p:spPr>
          <a:xfrm>
            <a:off x="7326377" y="2617583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SoftMarginTeaching_1010"/>
          <p:cNvSpPr/>
          <p:nvPr/>
        </p:nvSpPr>
        <p:spPr>
          <a:xfrm>
            <a:off x="8564724" y="2897709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1" name="SoftMarginTeaching_1011"/>
          <p:cNvSpPr/>
          <p:nvPr/>
        </p:nvSpPr>
        <p:spPr>
          <a:xfrm>
            <a:off x="8131305" y="3236972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2" name="SoftMarginTeaching_1012"/>
          <p:cNvSpPr/>
          <p:nvPr/>
        </p:nvSpPr>
        <p:spPr>
          <a:xfrm>
            <a:off x="6896603" y="3403943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3" name="SoftMarginTeaching_1013"/>
          <p:cNvSpPr/>
          <p:nvPr/>
        </p:nvSpPr>
        <p:spPr>
          <a:xfrm>
            <a:off x="7489727" y="3465430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4" name="SoftMarginTeaching_1014"/>
          <p:cNvSpPr/>
          <p:nvPr/>
        </p:nvSpPr>
        <p:spPr>
          <a:xfrm>
            <a:off x="9633456" y="3453974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5" name="SoftMarginTeaching_1015"/>
          <p:cNvSpPr/>
          <p:nvPr/>
        </p:nvSpPr>
        <p:spPr>
          <a:xfrm>
            <a:off x="8351234" y="4197452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6" name="SoftMarginTeaching_1016"/>
          <p:cNvSpPr/>
          <p:nvPr/>
        </p:nvSpPr>
        <p:spPr>
          <a:xfrm>
            <a:off x="9007177" y="4190956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7" name="SoftMarginTeaching_1017"/>
          <p:cNvSpPr/>
          <p:nvPr/>
        </p:nvSpPr>
        <p:spPr>
          <a:xfrm>
            <a:off x="7004333" y="4313387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8" name="SoftMarginTeaching_1018"/>
          <p:cNvSpPr/>
          <p:nvPr/>
        </p:nvSpPr>
        <p:spPr>
          <a:xfrm>
            <a:off x="7653273" y="4424394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9" name="SoftMarginTeaching_1019"/>
          <p:cNvSpPr/>
          <p:nvPr/>
        </p:nvSpPr>
        <p:spPr>
          <a:xfrm>
            <a:off x="7975304" y="4595250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0" name="SoftMarginTeaching_1020"/>
          <p:cNvSpPr/>
          <p:nvPr/>
        </p:nvSpPr>
        <p:spPr>
          <a:xfrm>
            <a:off x="9474041" y="5157390"/>
            <a:ext cx="148132" cy="157276"/>
          </a:xfrm>
          <a:prstGeom prst="plus">
            <a:avLst/>
          </a:prstGeom>
          <a:solidFill>
            <a:srgbClr val="B6D7D0"/>
          </a:solidFill>
          <a:ln w="13970">
            <a:solidFill>
              <a:srgbClr val="305C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1" name="SoftMarginTeaching_1021"/>
          <p:cNvSpPr/>
          <p:nvPr/>
        </p:nvSpPr>
        <p:spPr>
          <a:xfrm>
            <a:off x="8390003" y="2138380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2" name="SoftMarginTeaching_1022"/>
          <p:cNvSpPr/>
          <p:nvPr/>
        </p:nvSpPr>
        <p:spPr>
          <a:xfrm>
            <a:off x="10266794" y="2255099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3" name="SoftMarginTeaching_1023"/>
          <p:cNvSpPr/>
          <p:nvPr/>
        </p:nvSpPr>
        <p:spPr>
          <a:xfrm>
            <a:off x="9776588" y="2782669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4" name="SoftMarginTeaching_1024"/>
          <p:cNvSpPr/>
          <p:nvPr/>
        </p:nvSpPr>
        <p:spPr>
          <a:xfrm>
            <a:off x="10136073" y="2908725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5" name="SoftMarginTeaching_1025"/>
          <p:cNvSpPr/>
          <p:nvPr/>
        </p:nvSpPr>
        <p:spPr>
          <a:xfrm>
            <a:off x="10406853" y="3249545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6" name="SoftMarginTeaching_1026"/>
          <p:cNvSpPr/>
          <p:nvPr/>
        </p:nvSpPr>
        <p:spPr>
          <a:xfrm>
            <a:off x="8796174" y="3389608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7" name="SoftMarginTeaching_1027"/>
          <p:cNvSpPr/>
          <p:nvPr/>
        </p:nvSpPr>
        <p:spPr>
          <a:xfrm>
            <a:off x="10089386" y="3398945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8" name="SoftMarginTeaching_1028"/>
          <p:cNvSpPr/>
          <p:nvPr/>
        </p:nvSpPr>
        <p:spPr>
          <a:xfrm>
            <a:off x="9286381" y="3739765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9" name="SoftMarginTeaching_1029"/>
          <p:cNvSpPr/>
          <p:nvPr/>
        </p:nvSpPr>
        <p:spPr>
          <a:xfrm>
            <a:off x="10196765" y="3879828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0" name="SoftMarginTeaching_1030"/>
          <p:cNvSpPr/>
          <p:nvPr/>
        </p:nvSpPr>
        <p:spPr>
          <a:xfrm>
            <a:off x="7638353" y="3921847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1" name="SoftMarginTeaching_1031"/>
          <p:cNvSpPr/>
          <p:nvPr/>
        </p:nvSpPr>
        <p:spPr>
          <a:xfrm>
            <a:off x="9986676" y="4075916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2" name="SoftMarginTeaching_1032"/>
          <p:cNvSpPr/>
          <p:nvPr/>
        </p:nvSpPr>
        <p:spPr>
          <a:xfrm>
            <a:off x="10196765" y="4496104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3" name="SoftMarginTeaching_1033"/>
          <p:cNvSpPr/>
          <p:nvPr/>
        </p:nvSpPr>
        <p:spPr>
          <a:xfrm>
            <a:off x="9613185" y="4533454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4" name="SoftMarginTeaching_1034"/>
          <p:cNvSpPr/>
          <p:nvPr/>
        </p:nvSpPr>
        <p:spPr>
          <a:xfrm>
            <a:off x="9230357" y="4762224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5" name="SoftMarginTeaching_1035"/>
          <p:cNvSpPr/>
          <p:nvPr/>
        </p:nvSpPr>
        <p:spPr>
          <a:xfrm>
            <a:off x="9776588" y="4762224"/>
            <a:ext cx="149961" cy="51206"/>
          </a:xfrm>
          <a:prstGeom prst="rect">
            <a:avLst/>
          </a:prstGeom>
          <a:solidFill>
            <a:srgbClr val="ED4A3E"/>
          </a:solidFill>
          <a:ln w="12700">
            <a:solidFill>
              <a:srgbClr val="7228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6" name="SoftMarginTeaching_1036"/>
          <p:cNvSpPr/>
          <p:nvPr/>
        </p:nvSpPr>
        <p:spPr>
          <a:xfrm>
            <a:off x="8269852" y="4120642"/>
            <a:ext cx="310896" cy="310896"/>
          </a:xfrm>
          <a:prstGeom prst="ellipse">
            <a:avLst/>
          </a:prstGeom>
          <a:noFill/>
          <a:ln w="24130">
            <a:solidFill>
              <a:srgbClr val="A6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7" name="SoftMarginTeaching_1037"/>
          <p:cNvSpPr txBox="1"/>
          <p:nvPr/>
        </p:nvSpPr>
        <p:spPr>
          <a:xfrm>
            <a:off x="8068684" y="4020058"/>
            <a:ext cx="24688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A66A00"/>
                </a:solidFill>
                <a:latin typeface="Arial"/>
                <a:ea typeface="微软雅黑"/>
              </a:rPr>
              <a:t>A</a:t>
            </a:r>
          </a:p>
        </p:txBody>
      </p:sp>
      <p:sp>
        <p:nvSpPr>
          <p:cNvPr id="1038" name="SoftMarginTeaching_1038"/>
          <p:cNvSpPr/>
          <p:nvPr/>
        </p:nvSpPr>
        <p:spPr>
          <a:xfrm>
            <a:off x="9552075" y="3377164"/>
            <a:ext cx="310896" cy="310896"/>
          </a:xfrm>
          <a:prstGeom prst="ellipse">
            <a:avLst/>
          </a:prstGeom>
          <a:noFill/>
          <a:ln w="24130">
            <a:solidFill>
              <a:srgbClr val="7B32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9" name="SoftMarginTeaching_1039"/>
          <p:cNvSpPr txBox="1"/>
          <p:nvPr/>
        </p:nvSpPr>
        <p:spPr>
          <a:xfrm>
            <a:off x="9908691" y="3624052"/>
            <a:ext cx="246888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>
                <a:solidFill>
                  <a:srgbClr val="7B3294"/>
                </a:solidFill>
                <a:latin typeface="Arial"/>
                <a:ea typeface="微软雅黑"/>
              </a:rPr>
              <a:t>B</a:t>
            </a:r>
          </a:p>
        </p:txBody>
      </p:sp>
      <p:sp>
        <p:nvSpPr>
          <p:cNvPr id="1040" name="SoftMarginTeaching_1040"/>
          <p:cNvSpPr txBox="1"/>
          <p:nvPr/>
        </p:nvSpPr>
        <p:spPr>
          <a:xfrm>
            <a:off x="6748272" y="1691640"/>
            <a:ext cx="132588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305C54"/>
                </a:solidFill>
                <a:latin typeface="Arial"/>
                <a:ea typeface="微软雅黑"/>
              </a:rPr>
              <a:t>+：正类（+1）</a:t>
            </a:r>
          </a:p>
        </p:txBody>
      </p:sp>
      <p:sp>
        <p:nvSpPr>
          <p:cNvPr id="1041" name="SoftMarginTeaching_1041"/>
          <p:cNvSpPr txBox="1"/>
          <p:nvPr/>
        </p:nvSpPr>
        <p:spPr>
          <a:xfrm>
            <a:off x="9802368" y="1691640"/>
            <a:ext cx="1417320" cy="2286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A82E25"/>
                </a:solidFill>
                <a:latin typeface="Arial"/>
                <a:ea typeface="微软雅黑"/>
              </a:rPr>
              <a:t>−：负类（−1）</a:t>
            </a:r>
          </a:p>
        </p:txBody>
      </p:sp>
      <p:sp>
        <p:nvSpPr>
          <p:cNvPr id="1042" name="SoftMarginTeaching_1042"/>
          <p:cNvSpPr txBox="1"/>
          <p:nvPr/>
        </p:nvSpPr>
        <p:spPr>
          <a:xfrm>
            <a:off x="6537960" y="5458968"/>
            <a:ext cx="315468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925D00"/>
                </a:solidFill>
                <a:latin typeface="Arial"/>
                <a:ea typeface="微软雅黑"/>
              </a:rPr>
              <a:t>A：分对但间隔不足</a:t>
            </a:r>
          </a:p>
        </p:txBody>
      </p:sp>
      <p:sp>
        <p:nvSpPr>
          <p:cNvPr id="1043" name="SoftMarginTeaching_1043"/>
          <p:cNvSpPr txBox="1"/>
          <p:nvPr/>
        </p:nvSpPr>
        <p:spPr>
          <a:xfrm>
            <a:off x="9738360" y="5458968"/>
            <a:ext cx="1737360" cy="2468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7B3294"/>
                </a:solidFill>
                <a:latin typeface="Arial"/>
                <a:ea typeface="微软雅黑"/>
              </a:rPr>
              <a:t>B：误分类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71500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边界：wᵀx+b=0；两侧由分数符号区分。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571500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微软雅黑"/>
                <a:ea typeface="微软雅黑"/>
              </a:rPr>
              <a:t>允许重叠或误分，用损失与正则项权衡。</a:t>
            </a:r>
          </a:p>
        </p:txBody>
      </p:sp>
    </p:spTree>
    <p:extLst>
      <p:ext uri="{BB962C8B-B14F-4D97-AF65-F5344CB8AC3E}">
        <p14:creationId xmlns:p14="http://schemas.microsoft.com/office/powerpoint/2010/main" val="40904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回顾：线性分数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分数、预测和函数间隔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6/36</a:t>
            </a:r>
          </a:p>
        </p:txBody>
      </p:sp>
      <p:pic>
        <p:nvPicPr>
          <p:cNvPr id="19" name="Picture 18" descr="eq_scor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684269" y="1920240"/>
            <a:ext cx="4792980" cy="77724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822960" y="3090672"/>
          <a:ext cx="1051560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对象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形状／含义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X、w、b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X=[m,7]，w=[7]，b 为标量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分数 s 与标签 y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s=[m]，y=[m] 且取 −1 / +1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函数间隔 r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标签 × 分数，正数表示分类正确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914400" y="534924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400" b="0">
                <a:solidFill>
                  <a:srgbClr val="4472C4"/>
                </a:solidFill>
                <a:latin typeface="微软雅黑"/>
                <a:ea typeface="微软雅黑"/>
              </a:rPr>
              <a:t>预测规则：s ≥ 0 判为 +1；s &lt; 0 判为 −1。</a:t>
            </a:r>
          </a:p>
        </p:txBody>
      </p:sp>
    </p:spTree>
    <p:extLst>
      <p:ext uri="{BB962C8B-B14F-4D97-AF65-F5344CB8AC3E}">
        <p14:creationId xmlns:p14="http://schemas.microsoft.com/office/powerpoint/2010/main" val="1849697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回顾：hinge 损失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分类正确，为什么还可能需要更新？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7/36</a:t>
            </a:r>
          </a:p>
        </p:txBody>
      </p:sp>
      <p:pic>
        <p:nvPicPr>
          <p:cNvPr id="19" name="Picture 18" descr="hinge_curv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40080" y="2016841"/>
            <a:ext cx="5577840" cy="3418676"/>
          </a:xfrm>
          <a:prstGeom prst="rect">
            <a:avLst/>
          </a:prstGeom>
        </p:spPr>
      </p:pic>
      <p:pic>
        <p:nvPicPr>
          <p:cNvPr id="20" name="Picture 19" descr="eq_hing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7013009" y="1920240"/>
            <a:ext cx="3713340" cy="64008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2852928"/>
          <a:ext cx="498348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函数间隔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含义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 &lt; 0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误分，有损失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 ≤ r &lt; 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边界内，仍有损失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r ≥ 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hinge 损失为 0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8701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回顾：训练目标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平均 hinge 损失 + L2 权重正则化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8/36</a:t>
            </a:r>
          </a:p>
        </p:txBody>
      </p:sp>
      <p:pic>
        <p:nvPicPr>
          <p:cNvPr id="19" name="Picture 18" descr="eq_objectiv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304067" y="1920240"/>
            <a:ext cx="3553385" cy="914400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822960" y="3246120"/>
            <a:ext cx="5029200" cy="1417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87552" y="3383279"/>
            <a:ext cx="47000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平均数据损失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" y="3849624"/>
            <a:ext cx="47000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鼓励分类正确，并让函数间隔足够大。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3246120"/>
            <a:ext cx="5029200" cy="141732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91072" y="3383279"/>
            <a:ext cx="4700016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权重正则项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849624"/>
            <a:ext cx="4700016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限制权重大小；本实验不惩罚偏置 b。</a:t>
            </a:r>
          </a:p>
        </p:txBody>
      </p:sp>
      <p:pic>
        <p:nvPicPr>
          <p:cNvPr id="26" name="Picture 25" descr="eq_conversion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78536" y="5074920"/>
            <a:ext cx="3204446" cy="658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7850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回顾：子梯度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从 margin 导数到权重、偏置梯度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9/36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1801368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222222"/>
                </a:solidFill>
                <a:latin typeface="微软雅黑"/>
                <a:ea typeface="微软雅黑"/>
              </a:rPr>
              <a:t>记 qᵢ=∂ℓ/∂rᵢ：rᵢ&lt;1 时取 −1，否则取 0。</a:t>
            </a:r>
          </a:p>
        </p:txBody>
      </p:sp>
      <p:pic>
        <p:nvPicPr>
          <p:cNvPr id="20" name="Picture 19" descr="eq_grad_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3776634" y="2606040"/>
            <a:ext cx="4608251" cy="777240"/>
          </a:xfrm>
          <a:prstGeom prst="rect">
            <a:avLst/>
          </a:prstGeom>
        </p:spPr>
      </p:pic>
      <p:pic>
        <p:nvPicPr>
          <p:cNvPr id="21" name="Picture 20" descr="eq_grad_b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75322" y="3703320"/>
            <a:ext cx="2010874" cy="73152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14400" y="4892040"/>
            <a:ext cx="1033272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B 是当前批次的真实大小；梯度只平均一次。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权重包含 λw，偏置不加 L2。</a:t>
            </a:r>
          </a:p>
        </p:txBody>
      </p:sp>
    </p:spTree>
    <p:extLst>
      <p:ext uri="{BB962C8B-B14F-4D97-AF65-F5344CB8AC3E}">
        <p14:creationId xmlns:p14="http://schemas.microsoft.com/office/powerpoint/2010/main" val="32701757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训练方法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小批量随机子梯度下降：学习率与参数更新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10/36</a:t>
            </a:r>
          </a:p>
        </p:txBody>
      </p:sp>
      <p:pic>
        <p:nvPicPr>
          <p:cNvPr id="19" name="Picture 18" descr="eq_rat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31981" y="1828800"/>
            <a:ext cx="4006117" cy="777240"/>
          </a:xfrm>
          <a:prstGeom prst="rect">
            <a:avLst/>
          </a:prstGeom>
        </p:spPr>
      </p:pic>
      <p:pic>
        <p:nvPicPr>
          <p:cNvPr id="20" name="Picture 19" descr="eq_updat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356928" y="2971800"/>
            <a:ext cx="7447662" cy="777240"/>
          </a:xfrm>
          <a:prstGeom prst="rect">
            <a:avLst/>
          </a:prstGeom>
        </p:spPr>
      </p:pic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914400" y="4297680"/>
          <a:ext cx="1033272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89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概念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本实验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 个 epoch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打乱并遍历一次训练集，共 36 个批次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150 个 epoch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共 5,400 次小批量更新；最后一批有 46 条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0598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实验说明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Python + NumPy：CPU 即可完成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11/36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1828800"/>
            <a:ext cx="4983480" cy="1417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依赖：NumPy、pandas、SciPy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scikit-learn、Matplotlib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threadpoolctl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429000"/>
            <a:ext cx="5303520" cy="9144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3675887"/>
            <a:ext cx="502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400" b="0">
                <a:solidFill>
                  <a:srgbClr val="222222"/>
                </a:solidFill>
                <a:latin typeface="Consolas"/>
                <a:ea typeface="微软雅黑"/>
              </a:rPr>
              <a:t>python3 -m pip install -r requirements.txt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828800"/>
            <a:ext cx="512064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Task2-水稻品种分类/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main.py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svm.py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rice_loader.py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visualize.py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geometry_demo.py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requirements.txt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data/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        rice.csv</a:t>
            </a:r>
          </a:p>
        </p:txBody>
      </p:sp>
    </p:spTree>
    <p:extLst>
      <p:ext uri="{BB962C8B-B14F-4D97-AF65-F5344CB8AC3E}">
        <p14:creationId xmlns:p14="http://schemas.microsoft.com/office/powerpoint/2010/main" val="785105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实验流程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先开发，再对固定配置做最终测试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12/36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2057400"/>
            <a:ext cx="2121408" cy="2514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219456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读取数据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2660904"/>
            <a:ext cx="17922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标签映射、固定划分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292608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35224" y="2057400"/>
            <a:ext cx="2121408" cy="2514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099816" y="219456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训练预处理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99816" y="2660904"/>
            <a:ext cx="17922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仅用训练行拟合统计量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920" y="292608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76088" y="2057400"/>
            <a:ext cx="2121408" cy="2514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40680" y="219456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小批量更新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2660904"/>
            <a:ext cx="17922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前向分数、损失与梯度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15783" y="292608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16952" y="2057400"/>
            <a:ext cx="2121408" cy="2514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81544" y="219456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验证选轮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1544" y="2660904"/>
            <a:ext cx="17922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保存最小验证数据损失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56648" y="2926080"/>
            <a:ext cx="2103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57816" y="2057400"/>
            <a:ext cx="2121408" cy="251460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122408" y="2194560"/>
            <a:ext cx="179222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1">
                <a:solidFill>
                  <a:srgbClr val="4472C4"/>
                </a:solidFill>
                <a:latin typeface="微软雅黑"/>
                <a:ea typeface="微软雅黑"/>
              </a:rPr>
              <a:t>最终评价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22408" y="2660904"/>
            <a:ext cx="1792224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测试指标与混淆矩阵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4892040"/>
            <a:ext cx="10332720" cy="1097280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097280" y="5029200"/>
            <a:ext cx="99669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开发：python3 main.py --validation-only</a:t>
            </a: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最终测试：python3 main.py（先固定配置）</a:t>
            </a:r>
          </a:p>
        </p:txBody>
      </p:sp>
    </p:spTree>
    <p:extLst>
      <p:ext uri="{BB962C8B-B14F-4D97-AF65-F5344CB8AC3E}">
        <p14:creationId xmlns:p14="http://schemas.microsoft.com/office/powerpoint/2010/main" val="18533544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运行参数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默认配置与对照开关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13/36</a:t>
            </a:r>
          </a:p>
        </p:txBody>
      </p:sp>
      <p:pic>
        <p:nvPicPr>
          <p:cNvPr id="19" name="Picture 18" descr="args.png"/>
          <p:cNvPicPr>
            <a:picLocks noChangeAspect="1"/>
          </p:cNvPicPr>
          <p:nvPr/>
        </p:nvPicPr>
        <p:blipFill>
          <a:blip r:embed="rId4"/>
          <a:srcRect l="217" r="34696" b="30063"/>
          <a:stretch>
            <a:fillRect/>
          </a:stretch>
        </p:blipFill>
        <p:spPr>
          <a:xfrm>
            <a:off x="1259115" y="1783080"/>
            <a:ext cx="9643289" cy="43159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28192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默认：hinge、standard、λ=0.01、lr=0.05、150 轮、batch=64、seed=42。</a:t>
            </a:r>
          </a:p>
        </p:txBody>
      </p:sp>
    </p:spTree>
    <p:extLst>
      <p:ext uri="{BB962C8B-B14F-4D97-AF65-F5344CB8AC3E}">
        <p14:creationId xmlns:p14="http://schemas.microsoft.com/office/powerpoint/2010/main" val="38954284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数据读取：CSV → 特征矩阵与 −1/+1 标签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14/36</a:t>
            </a:r>
          </a:p>
        </p:txBody>
      </p:sp>
      <p:pic>
        <p:nvPicPr>
          <p:cNvPr id="19" name="Picture 18" descr="loader.png"/>
          <p:cNvPicPr>
            <a:picLocks noChangeAspect="1"/>
          </p:cNvPicPr>
          <p:nvPr/>
        </p:nvPicPr>
        <p:blipFill>
          <a:blip r:embed="rId4"/>
          <a:srcRect r="39847" b="56367"/>
          <a:stretch>
            <a:fillRect/>
          </a:stretch>
        </p:blipFill>
        <p:spPr>
          <a:xfrm>
            <a:off x="640080" y="1969227"/>
            <a:ext cx="10881360" cy="321215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22960" y="557784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4472C4"/>
                </a:solidFill>
                <a:latin typeface="微软雅黑"/>
                <a:ea typeface="微软雅黑"/>
              </a:rPr>
              <a:t>FEATURES 选择 7 个特征；Cammeo → −1，Osmancik → +1。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28192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rice_loader.py 已完整提供，无需补写。读取时同时检查样本数、列名、缺失值和重复特征行。</a:t>
            </a:r>
          </a:p>
        </p:txBody>
      </p:sp>
    </p:spTree>
    <p:extLst>
      <p:ext uri="{BB962C8B-B14F-4D97-AF65-F5344CB8AC3E}">
        <p14:creationId xmlns:p14="http://schemas.microsoft.com/office/powerpoint/2010/main" val="1161483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固定划分与仅使用训练行的标准化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15/36</a:t>
            </a:r>
          </a:p>
        </p:txBody>
      </p:sp>
      <p:pic>
        <p:nvPicPr>
          <p:cNvPr id="19" name="Picture 18" descr="loader.png"/>
          <p:cNvPicPr>
            <a:picLocks noChangeAspect="1"/>
          </p:cNvPicPr>
          <p:nvPr/>
        </p:nvPicPr>
        <p:blipFill>
          <a:blip r:embed="rId4"/>
          <a:srcRect l="2082" t="43633" r="36151"/>
          <a:stretch>
            <a:fillRect/>
          </a:stretch>
        </p:blipFill>
        <p:spPr>
          <a:xfrm>
            <a:off x="640079" y="1934169"/>
            <a:ext cx="10881360" cy="40412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28192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>
                <a:solidFill>
                  <a:srgbClr val="666666"/>
                </a:solidFill>
                <a:latin typeface="微软雅黑"/>
                <a:ea typeface="微软雅黑"/>
              </a:rPr>
              <a:t>先留出 20% 测试，再从剩余 80% 中取 25% 作验证，得到 60% / 20% / 20%。</a:t>
            </a:r>
          </a:p>
        </p:txBody>
      </p:sp>
    </p:spTree>
    <p:extLst>
      <p:ext uri="{BB962C8B-B14F-4D97-AF65-F5344CB8AC3E}">
        <p14:creationId xmlns:p14="http://schemas.microsoft.com/office/powerpoint/2010/main" val="2167673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LinearClassifier 初始化：7 个权重与 1 个偏置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16/36</a:t>
            </a:r>
          </a:p>
        </p:txBody>
      </p:sp>
      <p:pic>
        <p:nvPicPr>
          <p:cNvPr id="19" name="Picture 18" descr="classifier.png"/>
          <p:cNvPicPr>
            <a:picLocks noChangeAspect="1"/>
          </p:cNvPicPr>
          <p:nvPr/>
        </p:nvPicPr>
        <p:blipFill>
          <a:blip r:embed="rId4"/>
          <a:srcRect r="40064" b="69083"/>
          <a:stretch>
            <a:fillRect/>
          </a:stretch>
        </p:blipFill>
        <p:spPr>
          <a:xfrm>
            <a:off x="640080" y="2039848"/>
            <a:ext cx="10881360" cy="30526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35860" y="5537032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 dirty="0" err="1">
                <a:solidFill>
                  <a:srgbClr val="4472C4"/>
                </a:solidFill>
                <a:latin typeface="微软雅黑"/>
                <a:ea typeface="微软雅黑"/>
              </a:rPr>
              <a:t>权重、偏置从</a:t>
            </a: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 0 </a:t>
            </a:r>
            <a:r>
              <a:rPr sz="2200" b="0" dirty="0" err="1">
                <a:solidFill>
                  <a:srgbClr val="4472C4"/>
                </a:solidFill>
                <a:latin typeface="微软雅黑"/>
                <a:ea typeface="微软雅黑"/>
              </a:rPr>
              <a:t>开始；固定</a:t>
            </a: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 seed </a:t>
            </a:r>
            <a:r>
              <a:rPr sz="2200" b="0" dirty="0" err="1">
                <a:solidFill>
                  <a:srgbClr val="4472C4"/>
                </a:solidFill>
                <a:latin typeface="微软雅黑"/>
                <a:ea typeface="微软雅黑"/>
              </a:rPr>
              <a:t>控制每轮打乱顺序</a:t>
            </a:r>
            <a:r>
              <a:rPr sz="2200" b="0" dirty="0">
                <a:solidFill>
                  <a:srgbClr val="4472C4"/>
                </a:solidFill>
                <a:latin typeface="微软雅黑"/>
                <a:ea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64154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1：批量计算线性分数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17/36</a:t>
            </a:r>
          </a:p>
        </p:txBody>
      </p:sp>
      <p:pic>
        <p:nvPicPr>
          <p:cNvPr id="19" name="Picture 18" descr="classifier.png"/>
          <p:cNvPicPr>
            <a:picLocks noChangeAspect="1"/>
          </p:cNvPicPr>
          <p:nvPr/>
        </p:nvPicPr>
        <p:blipFill>
          <a:blip r:embed="rId4"/>
          <a:srcRect l="2051" t="32396" r="66372" b="50148"/>
          <a:stretch>
            <a:fillRect/>
          </a:stretch>
        </p:blipFill>
        <p:spPr>
          <a:xfrm>
            <a:off x="2050716" y="1874519"/>
            <a:ext cx="8060087" cy="242316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005840" y="4800600"/>
          <a:ext cx="10058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输入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权重／偏置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输出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X=[m,7]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w=[7]，b 为标量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s=[m]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419899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2：同时返回 hinge 损失和 margin 子梯度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18/36</a:t>
            </a:r>
          </a:p>
        </p:txBody>
      </p:sp>
      <p:pic>
        <p:nvPicPr>
          <p:cNvPr id="19" name="Picture 18" descr="hinge.png"/>
          <p:cNvPicPr>
            <a:picLocks noChangeAspect="1"/>
          </p:cNvPicPr>
          <p:nvPr/>
        </p:nvPicPr>
        <p:blipFill>
          <a:blip r:embed="rId4"/>
          <a:srcRect l="46" r="53850"/>
          <a:stretch>
            <a:fillRect/>
          </a:stretch>
        </p:blipFill>
        <p:spPr>
          <a:xfrm>
            <a:off x="1745229" y="1920240"/>
            <a:ext cx="8671060" cy="21031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47091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返回两个逐样本数组，形状均为 [m]。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300" b="0">
                <a:solidFill>
                  <a:srgbClr val="4472C4"/>
                </a:solidFill>
                <a:latin typeface="微软雅黑"/>
                <a:ea typeface="微软雅黑"/>
              </a:rPr>
              <a:t>说明 r&lt;1 和 r≥1 两种情况；在 r=1 处按约定取子梯度 0。</a:t>
            </a:r>
          </a:p>
        </p:txBody>
      </p:sp>
    </p:spTree>
    <p:extLst>
      <p:ext uri="{BB962C8B-B14F-4D97-AF65-F5344CB8AC3E}">
        <p14:creationId xmlns:p14="http://schemas.microsoft.com/office/powerpoint/2010/main" val="24059911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3：总目标 = 平均数据损失 + L2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19/36</a:t>
            </a:r>
          </a:p>
        </p:txBody>
      </p:sp>
      <p:pic>
        <p:nvPicPr>
          <p:cNvPr id="19" name="Picture 18" descr="classifier.png"/>
          <p:cNvPicPr>
            <a:picLocks noChangeAspect="1"/>
          </p:cNvPicPr>
          <p:nvPr/>
        </p:nvPicPr>
        <p:blipFill>
          <a:blip r:embed="rId4"/>
          <a:srcRect l="2051" t="59172" r="58166" b="21450"/>
          <a:stretch>
            <a:fillRect/>
          </a:stretch>
        </p:blipFill>
        <p:spPr>
          <a:xfrm>
            <a:off x="1248400" y="1828800"/>
            <a:ext cx="9664719" cy="2560320"/>
          </a:xfrm>
          <a:prstGeom prst="rect">
            <a:avLst/>
          </a:prstGeom>
        </p:spPr>
      </p:pic>
      <p:pic>
        <p:nvPicPr>
          <p:cNvPr id="20" name="Picture 19" descr="eq_objectiv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101469" y="4645152"/>
            <a:ext cx="355338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0952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4：计算权重与偏置的批量梯度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20/36</a:t>
            </a:r>
          </a:p>
        </p:txBody>
      </p:sp>
      <p:pic>
        <p:nvPicPr>
          <p:cNvPr id="19" name="Picture 18" descr="classifier.png"/>
          <p:cNvPicPr>
            <a:picLocks noChangeAspect="1"/>
          </p:cNvPicPr>
          <p:nvPr/>
        </p:nvPicPr>
        <p:blipFill>
          <a:blip r:embed="rId4"/>
          <a:srcRect l="2051" t="80473" r="57482"/>
          <a:stretch>
            <a:fillRect/>
          </a:stretch>
        </p:blipFill>
        <p:spPr>
          <a:xfrm>
            <a:off x="1115464" y="1828800"/>
            <a:ext cx="9930591" cy="260604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14400" y="4901184"/>
          <a:ext cx="1033272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权重梯度 dw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偏置梯度 db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批次平均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与 w 同形状，包含 L2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标量，不包含 L2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只按 len(y) 平均一次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21946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5：按 epoch 衰减学习率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21/36</a:t>
            </a:r>
          </a:p>
        </p:txBody>
      </p:sp>
      <p:pic>
        <p:nvPicPr>
          <p:cNvPr id="19" name="Picture 18" descr="update.png"/>
          <p:cNvPicPr>
            <a:picLocks noChangeAspect="1"/>
          </p:cNvPicPr>
          <p:nvPr/>
        </p:nvPicPr>
        <p:blipFill>
          <a:blip r:embed="rId4"/>
          <a:srcRect l="612" r="63662" b="62618"/>
          <a:stretch>
            <a:fillRect/>
          </a:stretch>
        </p:blipFill>
        <p:spPr>
          <a:xfrm>
            <a:off x="1518019" y="1828800"/>
            <a:ext cx="9125480" cy="2468880"/>
          </a:xfrm>
          <a:prstGeom prst="rect">
            <a:avLst/>
          </a:prstGeom>
        </p:spPr>
      </p:pic>
      <p:pic>
        <p:nvPicPr>
          <p:cNvPr id="20" name="Picture 19" descr="eq_rate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313355" y="4572000"/>
            <a:ext cx="3534809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192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代码实现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TODO 6：一次 SGD 更新与分类预测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22/36</a:t>
            </a:r>
          </a:p>
        </p:txBody>
      </p:sp>
      <p:pic>
        <p:nvPicPr>
          <p:cNvPr id="19" name="Picture 18" descr="update.png"/>
          <p:cNvPicPr>
            <a:picLocks noChangeAspect="1"/>
          </p:cNvPicPr>
          <p:nvPr/>
        </p:nvPicPr>
        <p:blipFill>
          <a:blip r:embed="rId4"/>
          <a:srcRect l="612" t="39432" r="61909"/>
          <a:stretch>
            <a:fillRect/>
          </a:stretch>
        </p:blipFill>
        <p:spPr>
          <a:xfrm>
            <a:off x="992802" y="1810512"/>
            <a:ext cx="10175914" cy="4251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063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训练框架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每轮打乱 → 取批次 → 梯度 → 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23/36</a:t>
            </a:r>
          </a:p>
        </p:txBody>
      </p:sp>
      <p:pic>
        <p:nvPicPr>
          <p:cNvPr id="19" name="Picture 18" descr="fit.png"/>
          <p:cNvPicPr>
            <a:picLocks noChangeAspect="1"/>
          </p:cNvPicPr>
          <p:nvPr/>
        </p:nvPicPr>
        <p:blipFill>
          <a:blip r:embed="rId4"/>
          <a:srcRect l="3317" r="59950" b="72977"/>
          <a:stretch>
            <a:fillRect/>
          </a:stretch>
        </p:blipFill>
        <p:spPr>
          <a:xfrm>
            <a:off x="1835918" y="1783080"/>
            <a:ext cx="8489683" cy="3200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5184648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800" b="0">
                <a:solidFill>
                  <a:srgbClr val="666666"/>
                </a:solidFill>
                <a:latin typeface="微软雅黑"/>
                <a:ea typeface="微软雅黑"/>
              </a:rPr>
              <a:t>中间省略非有限梯度检查；随后执行参数更新：</a:t>
            </a:r>
          </a:p>
        </p:txBody>
      </p:sp>
      <p:pic>
        <p:nvPicPr>
          <p:cNvPr id="21" name="Picture 20" descr="fit.png"/>
          <p:cNvPicPr>
            <a:picLocks noChangeAspect="1"/>
          </p:cNvPicPr>
          <p:nvPr/>
        </p:nvPicPr>
        <p:blipFill>
          <a:blip r:embed="rId4"/>
          <a:srcRect l="8126" t="32686" r="75415" b="64239"/>
          <a:stretch>
            <a:fillRect/>
          </a:stretch>
        </p:blipFill>
        <p:spPr>
          <a:xfrm>
            <a:off x="3788022" y="5568696"/>
            <a:ext cx="4585475" cy="43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训练框架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验证集选轮，训练结束后恢复选中的参数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24/36</a:t>
            </a:r>
          </a:p>
        </p:txBody>
      </p:sp>
      <p:pic>
        <p:nvPicPr>
          <p:cNvPr id="19" name="Picture 18" descr="fit.png"/>
          <p:cNvPicPr>
            <a:picLocks noChangeAspect="1"/>
          </p:cNvPicPr>
          <p:nvPr/>
        </p:nvPicPr>
        <p:blipFill>
          <a:blip r:embed="rId4"/>
          <a:srcRect l="5638" t="64563" r="51949" b="20712"/>
          <a:stretch>
            <a:fillRect/>
          </a:stretch>
        </p:blipFill>
        <p:spPr>
          <a:xfrm>
            <a:off x="731520" y="1965262"/>
            <a:ext cx="10698480" cy="1903346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14400" y="4187952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666666"/>
                </a:solidFill>
                <a:latin typeface="微软雅黑"/>
                <a:ea typeface="微软雅黑"/>
              </a:rPr>
              <a:t>中间省略控制台输出；结束后恢复保存的权重与偏置：</a:t>
            </a:r>
          </a:p>
        </p:txBody>
      </p:sp>
      <p:pic>
        <p:nvPicPr>
          <p:cNvPr id="21" name="Picture 20" descr="fit.png"/>
          <p:cNvPicPr>
            <a:picLocks noChangeAspect="1"/>
          </p:cNvPicPr>
          <p:nvPr/>
        </p:nvPicPr>
        <p:blipFill>
          <a:blip r:embed="rId4"/>
          <a:srcRect l="3317" t="88026" r="63930"/>
          <a:stretch>
            <a:fillRect/>
          </a:stretch>
        </p:blipFill>
        <p:spPr>
          <a:xfrm>
            <a:off x="2956971" y="4681728"/>
            <a:ext cx="6247576" cy="11704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2688" y="6203865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dirty="0" err="1">
                <a:solidFill>
                  <a:srgbClr val="666666"/>
                </a:solidFill>
                <a:latin typeface="微软雅黑"/>
                <a:ea typeface="微软雅黑"/>
              </a:rPr>
              <a:t>验证选轮使用平均数据损失，不包含</a:t>
            </a:r>
            <a:r>
              <a:rPr sz="1400" b="0" dirty="0">
                <a:solidFill>
                  <a:srgbClr val="666666"/>
                </a:solidFill>
                <a:latin typeface="微软雅黑"/>
                <a:ea typeface="微软雅黑"/>
              </a:rPr>
              <a:t> L2；最后一轮不一定是选中轮次。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必做任务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完成 6 处填空，并用手算核对一次更新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25/36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85800" y="1810512"/>
          <a:ext cx="10835640" cy="3319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1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编号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内容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检查要点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线性分数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批量形状与偏置广播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hinge 损失与子梯度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边界约定与逐样本输出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训练总目标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平均损失、权重正则化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4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权重／偏置梯度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链式法则、真实批次大小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4181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5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学习率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lr/√epoch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418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SGD 更新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不重复平均或加入 L2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68680" y="5431536"/>
            <a:ext cx="10424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手算：w=(0.2,−0.1)，b=0；X=((1,0),(0,2))，y=(+1,−1)。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微软雅黑"/>
                <a:ea typeface="微软雅黑"/>
              </a:rPr>
              <a:t>取 λ=0.01、η=0.05，核对分数、损失、梯度和一次更新。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实验设计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固定其他设置，再比较一个主要因素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26/36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1828800"/>
          <a:ext cx="106984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实验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改变内容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保持一致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默认基线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hinge + 标准化 + λ=0.01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固定划分与种子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标准化对照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--scaling none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λ、学习率、轮数、批次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正则化对照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λ=0.0001 / 0.001 / 0.01 / 0.1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标准化、训练预算与选轮规则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成熟库参考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--model library-linear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hinge 目标与对应的 C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868680" y="5522976"/>
            <a:ext cx="10332720" cy="5212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4472C4"/>
                </a:solidFill>
                <a:latin typeface="微软雅黑"/>
                <a:ea typeface="微软雅黑"/>
              </a:rPr>
              <a:t>先记录预期，再看结果；如实分析没有改善或差异很小的情况。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参考结果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默认手写线性 SVM：标准化、150 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27/36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783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训练准确率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10312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900" b="1">
                <a:solidFill>
                  <a:srgbClr val="4472C4"/>
                </a:solidFill>
                <a:latin typeface="微软雅黑"/>
                <a:ea typeface="微软雅黑"/>
              </a:rPr>
              <a:t>93.66%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1783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验证准确率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10312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900" b="1">
                <a:solidFill>
                  <a:srgbClr val="4472C4"/>
                </a:solidFill>
                <a:latin typeface="微软雅黑"/>
                <a:ea typeface="微软雅黑"/>
              </a:rPr>
              <a:t>92.39%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783080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1700" b="0">
                <a:solidFill>
                  <a:srgbClr val="666666"/>
                </a:solidFill>
                <a:latin typeface="微软雅黑"/>
                <a:ea typeface="微软雅黑"/>
              </a:rPr>
              <a:t>测试准确率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103120"/>
            <a:ext cx="283464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2900" b="1">
                <a:solidFill>
                  <a:srgbClr val="4472C4"/>
                </a:solidFill>
                <a:latin typeface="微软雅黑"/>
                <a:ea typeface="微软雅黑"/>
              </a:rPr>
              <a:t>91.60%</a:t>
            </a:r>
          </a:p>
        </p:txBody>
      </p:sp>
      <p:pic>
        <p:nvPicPr>
          <p:cNvPr id="25" name="Picture 24" descr="baseline_curv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318259" y="2697480"/>
            <a:ext cx="9525000" cy="3429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66928" y="628192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>
                <a:solidFill>
                  <a:srgbClr val="666666"/>
                </a:solidFill>
                <a:latin typeface="微软雅黑"/>
                <a:ea typeface="微软雅黑"/>
              </a:rPr>
              <a:t>λ=0.01，lr=0.05，batch=64，seed=42；选中第 148 轮，测试 698/762。参考值不作统一门槛。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对照结果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标准化：相同超参数下的流水线对照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28/36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731520" y="1828800"/>
          <a:ext cx="649224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7635240" y="2057400"/>
            <a:ext cx="370332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原始特征量级不同：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Area 约 7,551–18,913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微软雅黑"/>
                <a:ea typeface="微软雅黑"/>
              </a:rPr>
              <a:t>Eccentricity 约 0.78–0.95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3794760"/>
            <a:ext cx="3703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在相同 λ、学习率、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训练轮数与种子下，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观察缩放对训练的影响。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对照结果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正则化强度：结果可能只发生小幅变化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29/36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40080" y="1874519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λ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选中轮次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测试准确率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0.0001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139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91.60%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0.001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150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91.60%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0.01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148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91.60%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0.1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67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0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91.21%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20" name="Picture 19" descr="lambda_curv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60720" y="1828799"/>
            <a:ext cx="5760720" cy="347472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22960" y="539496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四组验证准确率均为 92.39%；测试差异也很小，需结合损失曲线解释。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结果分析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混淆矩阵：哪一种水稻更容易被错分？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30/36</a:t>
            </a:r>
          </a:p>
        </p:txBody>
      </p:sp>
      <p:pic>
        <p:nvPicPr>
          <p:cNvPr id="19" name="Picture 18" descr="baseline_confusion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52069" y="1783080"/>
            <a:ext cx="5205222" cy="4526280"/>
          </a:xfrm>
          <a:prstGeom prst="rect">
            <a:avLst/>
          </a:prstGeom>
        </p:spPr>
      </p:pic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172200" y="2011680"/>
          <a:ext cx="516636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真实 → 预测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数量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Cammeo → Osmancik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37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Osmancik → Cammeo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27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263640" y="4251960"/>
            <a:ext cx="4800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222222"/>
                </a:solidFill>
                <a:latin typeface="微软雅黑"/>
                <a:ea typeface="微软雅黑"/>
              </a:rPr>
              <a:t>共 64 条错分。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222222"/>
                </a:solidFill>
                <a:latin typeface="微软雅黑"/>
                <a:ea typeface="微软雅黑"/>
              </a:rPr>
              <a:t>结合各类 Precision、Recall、F1，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200" b="0">
                <a:solidFill>
                  <a:srgbClr val="222222"/>
                </a:solidFill>
                <a:latin typeface="微软雅黑"/>
                <a:ea typeface="微软雅黑"/>
              </a:rPr>
              <a:t>讨论总体准确率之外的信息。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选做 A1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稳定的 logistic 损失与 margin 导数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31/36</a:t>
            </a:r>
          </a:p>
        </p:txBody>
      </p:sp>
      <p:pic>
        <p:nvPicPr>
          <p:cNvPr id="19" name="Picture 18" descr="optional.png"/>
          <p:cNvPicPr>
            <a:picLocks noChangeAspect="1"/>
          </p:cNvPicPr>
          <p:nvPr/>
        </p:nvPicPr>
        <p:blipFill>
          <a:blip r:embed="rId4"/>
          <a:srcRect l="120" r="58680" b="61596"/>
          <a:stretch>
            <a:fillRect/>
          </a:stretch>
        </p:blipFill>
        <p:spPr>
          <a:xfrm>
            <a:off x="1833282" y="1783080"/>
            <a:ext cx="8494955" cy="2103120"/>
          </a:xfrm>
          <a:prstGeom prst="rect">
            <a:avLst/>
          </a:prstGeom>
        </p:spPr>
      </p:pic>
      <p:pic>
        <p:nvPicPr>
          <p:cNvPr id="20" name="Picture 19" descr="eq_logistic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22017" y="4160520"/>
            <a:ext cx="5717484" cy="685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5148072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222222"/>
                </a:solidFill>
                <a:latin typeface="Consolas"/>
                <a:ea typeface="微软雅黑"/>
              </a:rPr>
              <a:t>python3 main.py --loss logistic --validation-only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50992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900" b="0">
                <a:solidFill>
                  <a:srgbClr val="4472C4"/>
                </a:solidFill>
                <a:latin typeface="微软雅黑"/>
                <a:ea typeface="微软雅黑"/>
              </a:rPr>
              <a:t>相同标准化与预算下，测试准确率：hinge 91.60%；logistic 91.34%。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选做 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RBF 核矩阵：让分类边界具有非线性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32/36</a:t>
            </a:r>
          </a:p>
        </p:txBody>
      </p:sp>
      <p:pic>
        <p:nvPicPr>
          <p:cNvPr id="19" name="Picture 18" descr="optional.png"/>
          <p:cNvPicPr>
            <a:picLocks noChangeAspect="1"/>
          </p:cNvPicPr>
          <p:nvPr/>
        </p:nvPicPr>
        <p:blipFill>
          <a:blip r:embed="rId4"/>
          <a:srcRect l="120" t="45181" r="54440"/>
          <a:stretch>
            <a:fillRect/>
          </a:stretch>
        </p:blipFill>
        <p:spPr>
          <a:xfrm>
            <a:off x="1543326" y="1783080"/>
            <a:ext cx="9074867" cy="2907792"/>
          </a:xfrm>
          <a:prstGeom prst="rect">
            <a:avLst/>
          </a:prstGeom>
        </p:spPr>
      </p:pic>
      <p:pic>
        <p:nvPicPr>
          <p:cNvPr id="20" name="Picture 19" descr="eq_rbf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402143" y="4892040"/>
            <a:ext cx="3357233" cy="5943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868680" y="566928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000" b="0">
                <a:solidFill>
                  <a:srgbClr val="222222"/>
                </a:solidFill>
                <a:latin typeface="Consolas"/>
                <a:ea typeface="微软雅黑"/>
              </a:rPr>
              <a:t>python3 geometry_demo.py --rbf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二维边界示例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同一个 C：比较线性边界与 RBF 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33/36</a:t>
            </a:r>
          </a:p>
        </p:txBody>
      </p:sp>
      <p:pic>
        <p:nvPicPr>
          <p:cNvPr id="19" name="Picture 18" descr="toy_boundaries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638964" y="1783080"/>
            <a:ext cx="10883590" cy="4462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66928" y="6281928"/>
            <a:ext cx="1065276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0" dirty="0">
                <a:solidFill>
                  <a:srgbClr val="666666"/>
                </a:solidFill>
                <a:latin typeface="微软雅黑"/>
                <a:ea typeface="微软雅黑"/>
              </a:rPr>
              <a:t>make_moons：600 </a:t>
            </a:r>
            <a:r>
              <a:rPr sz="1400" b="0" dirty="0" err="1">
                <a:solidFill>
                  <a:srgbClr val="666666"/>
                </a:solidFill>
                <a:latin typeface="微软雅黑"/>
                <a:ea typeface="微软雅黑"/>
              </a:rPr>
              <a:t>条；两种核</a:t>
            </a:r>
            <a:r>
              <a:rPr sz="1400" b="0" dirty="0">
                <a:solidFill>
                  <a:srgbClr val="666666"/>
                </a:solidFill>
                <a:latin typeface="微软雅黑"/>
                <a:ea typeface="微软雅黑"/>
              </a:rPr>
              <a:t> C=1，RBF </a:t>
            </a:r>
            <a:r>
              <a:rPr sz="1400" b="0" dirty="0" err="1">
                <a:solidFill>
                  <a:srgbClr val="666666"/>
                </a:solidFill>
                <a:latin typeface="微软雅黑"/>
                <a:ea typeface="微软雅黑"/>
              </a:rPr>
              <a:t>γ</a:t>
            </a:r>
            <a:r>
              <a:rPr sz="1400" b="0" dirty="0">
                <a:solidFill>
                  <a:srgbClr val="666666"/>
                </a:solidFill>
                <a:latin typeface="微软雅黑"/>
                <a:ea typeface="微软雅黑"/>
              </a:rPr>
              <a:t>=1。测试：线性 89.17%，RBF 95.83%。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成熟库参考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接近参考求解器，不代表所有扩展都应提高分数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34/36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1874519"/>
          <a:ext cx="106984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设置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测试准确率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手写线性 SVM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标准化，λ=0.01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91.60%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成熟库线性 SVM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相同 hinge 目标，C=1/(2,286×0.01)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91.47%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成熟库 RBF SVM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固定 C=1，γ=1/7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1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91.08%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914400" y="4709160"/>
            <a:ext cx="102412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水稻数据中，本轮 RBF 没有改善。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100" b="0">
                <a:solidFill>
                  <a:srgbClr val="4472C4"/>
                </a:solidFill>
                <a:latin typeface="微软雅黑"/>
                <a:ea typeface="微软雅黑"/>
              </a:rPr>
              <a:t>RBF 与线性库参考的 C 不同，这里是固定扩展示例；二维示例才使用相同 C。</a:t>
            </a:r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实验要求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1170432"/>
            <a:ext cx="11018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500" b="1">
                <a:solidFill>
                  <a:srgbClr val="222222"/>
                </a:solidFill>
                <a:latin typeface="微软雅黑"/>
                <a:ea typeface="微软雅黑"/>
              </a:rPr>
              <a:t>提交实现、运行记录与能够解释的结论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35/36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731520" y="1810512"/>
          <a:ext cx="106984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9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项目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1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要求</a:t>
                      </a:r>
                    </a:p>
                  </a:txBody>
                  <a:tcPr marT="50292" marB="50292" anchor="ctr">
                    <a:solidFill>
                      <a:srgbClr val="E9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文件夹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Task2-学号-姓名-班级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代码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五个 Python 文件，包含 geometry_demo.py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报告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Word：实现与手算、设置、曲线、对照、错分分析、调试与总结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输出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3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 b="0">
                          <a:solidFill>
                            <a:srgbClr val="222222"/>
                          </a:solidFill>
                          <a:latin typeface="微软雅黑"/>
                          <a:ea typeface="微软雅黑"/>
                        </a:rPr>
                        <a:t>代表性 config / metrics / history、划分索引及相关图；不重复提交数据或缓存</a:t>
                      </a:r>
                    </a:p>
                  </a:txBody>
                  <a:tcPr marT="50292" marB="502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>
            <a:extLst>
              <a:ext uri="{FF2B5EF4-FFF2-40B4-BE49-F238E27FC236}">
                <a16:creationId xmlns:a16="http://schemas.microsoft.com/office/drawing/2014/main" id="{010C73EA-DEAA-4654-AC93-24F2C8EC1FC5}"/>
              </a:ext>
            </a:extLst>
          </p:cNvPr>
          <p:cNvGrpSpPr/>
          <p:nvPr/>
        </p:nvGrpSpPr>
        <p:grpSpPr>
          <a:xfrm>
            <a:off x="440788" y="401934"/>
            <a:ext cx="442094" cy="381837"/>
            <a:chOff x="562708" y="401934"/>
            <a:chExt cx="442094" cy="381837"/>
          </a:xfrm>
        </p:grpSpPr>
        <p:sp>
          <p:nvSpPr>
            <p:cNvPr id="6" name="箭头: V 形 5">
              <a:extLst>
                <a:ext uri="{FF2B5EF4-FFF2-40B4-BE49-F238E27FC236}">
                  <a16:creationId xmlns:a16="http://schemas.microsoft.com/office/drawing/2014/main" id="{18D9C637-EA38-4EFE-BA56-7B67C6BA493A}"/>
                </a:ext>
              </a:extLst>
            </p:cNvPr>
            <p:cNvSpPr/>
            <p:nvPr/>
          </p:nvSpPr>
          <p:spPr>
            <a:xfrm>
              <a:off x="562708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箭头: V 形 8">
              <a:extLst>
                <a:ext uri="{FF2B5EF4-FFF2-40B4-BE49-F238E27FC236}">
                  <a16:creationId xmlns:a16="http://schemas.microsoft.com/office/drawing/2014/main" id="{1BBD69EF-1701-44E0-B637-1696853AF0E1}"/>
                </a:ext>
              </a:extLst>
            </p:cNvPr>
            <p:cNvSpPr/>
            <p:nvPr/>
          </p:nvSpPr>
          <p:spPr>
            <a:xfrm>
              <a:off x="757780" y="401934"/>
              <a:ext cx="247022" cy="381837"/>
            </a:xfrm>
            <a:prstGeom prst="chevron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34987F58-3C2E-49A8-83AD-523063ECBB58}"/>
              </a:ext>
            </a:extLst>
          </p:cNvPr>
          <p:cNvCxnSpPr>
            <a:cxnSpLocks/>
          </p:cNvCxnSpPr>
          <p:nvPr/>
        </p:nvCxnSpPr>
        <p:spPr>
          <a:xfrm>
            <a:off x="345440" y="909488"/>
            <a:ext cx="847344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09728"/>
            <a:ext cx="3118104" cy="95097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86968" y="320040"/>
            <a:ext cx="7726679" cy="5120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2800" b="0">
                <a:solidFill>
                  <a:srgbClr val="222222"/>
                </a:solidFill>
                <a:latin typeface="微软雅黑"/>
                <a:ea typeface="微软雅黑"/>
              </a:rPr>
              <a:t>机器学习课程实验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47104"/>
            <a:ext cx="5943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2000"/>
              </a:lnSpc>
              <a:spcAft>
                <a:spcPts val="700"/>
              </a:spcAft>
            </a:pPr>
            <a:r>
              <a:rPr sz="1000" b="0">
                <a:solidFill>
                  <a:srgbClr val="666666"/>
                </a:solidFill>
                <a:latin typeface="微软雅黑"/>
                <a:ea typeface="微软雅黑"/>
              </a:rPr>
              <a:t>36/36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377440"/>
            <a:ext cx="83210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2000"/>
              </a:lnSpc>
              <a:spcAft>
                <a:spcPts val="700"/>
              </a:spcAft>
            </a:pPr>
            <a:r>
              <a:rPr sz="3800" b="0">
                <a:solidFill>
                  <a:srgbClr val="4472C4"/>
                </a:solidFill>
                <a:latin typeface="微软雅黑"/>
                <a:ea typeface="微软雅黑"/>
              </a:rPr>
              <a:t>Thank You    Q &amp; 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C4A816-E68A-1BB0-078F-0410F300BC0C}"/>
              </a:ext>
            </a:extLst>
          </p:cNvPr>
          <p:cNvSpPr txBox="1"/>
          <p:nvPr/>
        </p:nvSpPr>
        <p:spPr>
          <a:xfrm>
            <a:off x="3485205" y="4115246"/>
            <a:ext cx="53336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高煜明</a:t>
            </a:r>
            <a:r>
              <a:rPr lang="zh-CN" altLang="en-US" sz="2400" dirty="0"/>
              <a:t>  </a:t>
            </a:r>
            <a:r>
              <a:rPr lang="en-US" altLang="zh-CN" sz="2400" dirty="0"/>
              <a:t>gaoyuming11@stu.xjtu.edu.cn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86243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3650</TotalTime>
  <Words>1332</Words>
  <Application>Microsoft Macintosh PowerPoint</Application>
  <PresentationFormat>Widescreen</PresentationFormat>
  <Paragraphs>359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2" baseType="lpstr">
      <vt:lpstr>等线</vt:lpstr>
      <vt:lpstr>等线 Light</vt:lpstr>
      <vt:lpstr>微软雅黑</vt:lpstr>
      <vt:lpstr>Arial</vt:lpstr>
      <vt:lpstr>Consolas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Task2：使用支持向量机进行水稻品种分类</dc:title>
  <dc:subject>六处必做、两道选做；NumPy 小批量随机子梯度；固定划分与对照</dc:subject>
  <dc:creator/>
  <cp:lastModifiedBy>Yuming Gao</cp:lastModifiedBy>
  <cp:revision>102</cp:revision>
  <dcterms:created xsi:type="dcterms:W3CDTF">2022-03-10T15:29:11Z</dcterms:created>
  <dcterms:modified xsi:type="dcterms:W3CDTF">2026-10-22T07:49:29Z</dcterms:modified>
</cp:coreProperties>
</file>